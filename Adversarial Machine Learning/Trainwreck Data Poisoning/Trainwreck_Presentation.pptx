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4" r:id="rId7"/>
    <p:sldId id="262" r:id="rId8"/>
    <p:sldId id="270" r:id="rId9"/>
    <p:sldId id="266" r:id="rId10"/>
    <p:sldId id="265" r:id="rId11"/>
    <p:sldId id="267" r:id="rId12"/>
    <p:sldId id="268" r:id="rId13"/>
    <p:sldId id="269" r:id="rId14"/>
    <p:sldId id="26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2915" autoAdjust="0"/>
  </p:normalViewPr>
  <p:slideViewPr>
    <p:cSldViewPr snapToGrid="0">
      <p:cViewPr varScale="1">
        <p:scale>
          <a:sx n="92" d="100"/>
          <a:sy n="92" d="100"/>
        </p:scale>
        <p:origin x="12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9F8D6B-793D-4CD1-9E7D-9FFF3F6C5A04}" type="datetimeFigureOut">
              <a:rPr lang="en-US" smtClean="0"/>
              <a:t>10/21/2024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88FF9F-1DFD-480E-A84A-EC7666508F13}" type="slidenum">
              <a:rPr lang="en-US" smtClean="0"/>
              <a:t>‹#›</a:t>
            </a:fld>
            <a:endParaRPr lang="en-US"/>
          </a:p>
        </p:txBody>
      </p:sp>
    </p:spTree>
    <p:extLst>
      <p:ext uri="{BB962C8B-B14F-4D97-AF65-F5344CB8AC3E}">
        <p14:creationId xmlns:p14="http://schemas.microsoft.com/office/powerpoint/2010/main" val="1377681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a:t>
            </a:fld>
            <a:endParaRPr lang="en-US"/>
          </a:p>
        </p:txBody>
      </p:sp>
    </p:spTree>
    <p:extLst>
      <p:ext uri="{BB962C8B-B14F-4D97-AF65-F5344CB8AC3E}">
        <p14:creationId xmlns:p14="http://schemas.microsoft.com/office/powerpoint/2010/main" val="1037459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Poisoning the Training Data</a:t>
            </a:r>
            <a:r>
              <a:rPr lang="en-US" dirty="0"/>
              <a:t>:</a:t>
            </a:r>
          </a:p>
          <a:p>
            <a:pPr>
              <a:buFont typeface="Arial" panose="020B0604020202020204" pitchFamily="34" charset="0"/>
              <a:buChar char="•"/>
            </a:pPr>
            <a:r>
              <a:rPr lang="en-US" dirty="0"/>
              <a:t>The attacker modifies a subset of the training data in a way that the model learns false associations or decision rules.</a:t>
            </a:r>
          </a:p>
          <a:p>
            <a:pPr>
              <a:buFont typeface="Arial" panose="020B0604020202020204" pitchFamily="34" charset="0"/>
              <a:buChar char="•"/>
            </a:pPr>
            <a:r>
              <a:rPr lang="en-US" dirty="0"/>
              <a:t>These changes are crafted to look like legitimate data to human observers, making it hard to detect the attack.</a:t>
            </a:r>
          </a:p>
          <a:p>
            <a:r>
              <a:rPr lang="en-US" b="1" dirty="0"/>
              <a:t>Adversarial Perturbations</a:t>
            </a:r>
            <a:r>
              <a:rPr lang="en-US" dirty="0"/>
              <a:t>:</a:t>
            </a:r>
          </a:p>
          <a:p>
            <a:pPr>
              <a:buFont typeface="Arial" panose="020B0604020202020204" pitchFamily="34" charset="0"/>
              <a:buChar char="•"/>
            </a:pPr>
            <a:r>
              <a:rPr lang="en-US" dirty="0"/>
              <a:t>Perturbations are added to training samples in such a way that the model becomes overly sensitive to small variations in input.</a:t>
            </a:r>
          </a:p>
          <a:p>
            <a:pPr>
              <a:buFont typeface="Arial" panose="020B0604020202020204" pitchFamily="34" charset="0"/>
              <a:buChar char="•"/>
            </a:pPr>
            <a:r>
              <a:rPr lang="en-US" dirty="0"/>
              <a:t>The perturbations are designed so that the model cannot generalize well to clean, real-world data, resulting in poor performance when evaluated on legitimate test datasets.</a:t>
            </a:r>
          </a:p>
          <a:p>
            <a:r>
              <a:rPr lang="en-US" b="1" dirty="0"/>
              <a:t>Model Misclassification</a:t>
            </a:r>
            <a:r>
              <a:rPr lang="en-US" dirty="0"/>
              <a:t>:</a:t>
            </a:r>
          </a:p>
          <a:p>
            <a:pPr>
              <a:buFont typeface="Arial" panose="020B0604020202020204" pitchFamily="34" charset="0"/>
              <a:buChar char="•"/>
            </a:pPr>
            <a:r>
              <a:rPr lang="en-US" dirty="0"/>
              <a:t>After being trained on the tampered dataset, the model will consistently misclassify specific types of inputs.</a:t>
            </a:r>
          </a:p>
          <a:p>
            <a:pPr>
              <a:buFont typeface="Arial" panose="020B0604020202020204" pitchFamily="34" charset="0"/>
              <a:buChar char="•"/>
            </a:pPr>
            <a:r>
              <a:rPr lang="en-US" dirty="0"/>
              <a:t>The attack is particularly effective in scenarios where the system relies on the model to make critical decisions (e.g., in security applications).</a:t>
            </a:r>
          </a:p>
          <a:p>
            <a:r>
              <a:rPr lang="en-US" b="1" dirty="0"/>
              <a:t>Targeted or Untargeted Attacks</a:t>
            </a:r>
            <a:r>
              <a:rPr lang="en-US" dirty="0"/>
              <a:t>:</a:t>
            </a:r>
          </a:p>
          <a:p>
            <a:pPr>
              <a:buFont typeface="Arial" panose="020B0604020202020204" pitchFamily="34" charset="0"/>
              <a:buChar char="•"/>
            </a:pPr>
            <a:r>
              <a:rPr lang="en-US" dirty="0"/>
              <a:t>The Trainwreck attack can be </a:t>
            </a:r>
            <a:r>
              <a:rPr lang="en-US" b="1" dirty="0"/>
              <a:t>targeted</a:t>
            </a:r>
            <a:r>
              <a:rPr lang="en-US" dirty="0"/>
              <a:t>, meaning it causes the model to misclassify a specific class or set of classes.</a:t>
            </a:r>
          </a:p>
          <a:p>
            <a:pPr>
              <a:buFont typeface="Arial" panose="020B0604020202020204" pitchFamily="34" charset="0"/>
              <a:buChar char="•"/>
            </a:pPr>
            <a:r>
              <a:rPr lang="en-US" dirty="0"/>
              <a:t>It can also be </a:t>
            </a:r>
            <a:r>
              <a:rPr lang="en-US" b="1" dirty="0"/>
              <a:t>untargeted</a:t>
            </a:r>
            <a:r>
              <a:rPr lang="en-US" dirty="0"/>
              <a:t>, where the goal is to cause overall disruption in the model's ability to classify inputs correctly.</a:t>
            </a:r>
          </a:p>
          <a:p>
            <a:r>
              <a:rPr lang="en-US" b="1" dirty="0"/>
              <a:t>Attack Goals</a:t>
            </a:r>
            <a:r>
              <a:rPr lang="en-US" dirty="0"/>
              <a:t>:</a:t>
            </a:r>
          </a:p>
          <a:p>
            <a:pPr>
              <a:buFont typeface="Arial" panose="020B0604020202020204" pitchFamily="34" charset="0"/>
              <a:buChar char="•"/>
            </a:pPr>
            <a:r>
              <a:rPr lang="en-US" b="1" dirty="0"/>
              <a:t>Indiscriminate attack</a:t>
            </a:r>
            <a:r>
              <a:rPr lang="en-US" dirty="0"/>
              <a:t>: The attack might aim to reduce the model's accuracy across the board, causing it to fail on most test cases.</a:t>
            </a:r>
          </a:p>
          <a:p>
            <a:pPr>
              <a:buFont typeface="Arial" panose="020B0604020202020204" pitchFamily="34" charset="0"/>
              <a:buChar char="•"/>
            </a:pPr>
            <a:r>
              <a:rPr lang="en-US" b="1" dirty="0"/>
              <a:t>Backdoor attack</a:t>
            </a:r>
            <a:r>
              <a:rPr lang="en-US" dirty="0"/>
              <a:t>: In this variant, the model behaves normally on most inputs but fails (or performs a specific action) when presented with inputs containing a particular trigger or pattern, effectively "backdooring" the model for future exploitation.</a:t>
            </a:r>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__Stealthy__</a:t>
            </a:r>
            <a:r>
              <a:rPr lang="en-US" b="0" dirty="0">
                <a:solidFill>
                  <a:srgbClr val="CCCCCC"/>
                </a:solidFill>
                <a:effectLst/>
                <a:latin typeface="Consolas" panose="020B0609020204030204" pitchFamily="49" charset="0"/>
              </a:rPr>
              <a:t>: Trainwreck does not modify the number of the training images in the dataset or the number of images per class. All individual adversarial perturbations are inconspicuous, with l-inf norm lower or equal to 8/255 in 0-1 normalized pixel intensity space. As a result, it is difficult for the defenders to identify the data as the source of the attack.</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__Black-box__</a:t>
            </a:r>
            <a:r>
              <a:rPr lang="en-US" b="0" dirty="0">
                <a:solidFill>
                  <a:srgbClr val="CCCCCC"/>
                </a:solidFill>
                <a:effectLst/>
                <a:latin typeface="Consolas" panose="020B0609020204030204" pitchFamily="49" charset="0"/>
              </a:rPr>
              <a:t>: Trainwreck does not require any knowledge about the attacked models that will be trained on the poisoned data.</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__Transferable__</a:t>
            </a:r>
            <a:r>
              <a:rPr lang="en-US" b="0" dirty="0">
                <a:solidFill>
                  <a:srgbClr val="CCCCCC"/>
                </a:solidFill>
                <a:effectLst/>
                <a:latin typeface="Consolas" panose="020B0609020204030204" pitchFamily="49" charset="0"/>
              </a:rPr>
              <a:t>: A single dataset poisoning degrades the performance of any future </a:t>
            </a:r>
            <a:r>
              <a:rPr lang="en-US" b="0" dirty="0" err="1">
                <a:solidFill>
                  <a:srgbClr val="CCCCCC"/>
                </a:solidFill>
                <a:effectLst/>
                <a:latin typeface="Consolas" panose="020B0609020204030204" pitchFamily="49" charset="0"/>
              </a:rPr>
              <a:t>modele</a:t>
            </a:r>
            <a:r>
              <a:rPr lang="en-US" b="0" dirty="0">
                <a:solidFill>
                  <a:srgbClr val="CCCCCC"/>
                </a:solidFill>
                <a:effectLst/>
                <a:latin typeface="Consolas" panose="020B0609020204030204" pitchFamily="49" charset="0"/>
              </a:rPr>
              <a:t> trained on the poisoned data.</a:t>
            </a:r>
          </a:p>
          <a:p>
            <a:pPr>
              <a:buFont typeface="Arial" panose="020B0604020202020204" pitchFamily="34" charset="0"/>
              <a:buChar char="•"/>
            </a:pPr>
            <a:endParaRPr lang="en-US" dirty="0"/>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2</a:t>
            </a:fld>
            <a:endParaRPr lang="en-US"/>
          </a:p>
        </p:txBody>
      </p:sp>
    </p:spTree>
    <p:extLst>
      <p:ext uri="{BB962C8B-B14F-4D97-AF65-F5344CB8AC3E}">
        <p14:creationId xmlns:p14="http://schemas.microsoft.com/office/powerpoint/2010/main" val="1666950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Dataset Poisoning</a:t>
            </a:r>
            <a:r>
              <a:rPr lang="en-US" dirty="0"/>
              <a:t>:</a:t>
            </a:r>
          </a:p>
          <a:p>
            <a:pPr>
              <a:buFont typeface="Arial" panose="020B0604020202020204" pitchFamily="34" charset="0"/>
              <a:buChar char="•"/>
            </a:pPr>
            <a:r>
              <a:rPr lang="en-US" dirty="0"/>
              <a:t>The attacker alters a fraction of the training data, embedding adversarial examples or malicious perturbations into the dataset.</a:t>
            </a:r>
          </a:p>
          <a:p>
            <a:r>
              <a:rPr lang="en-US" b="1" dirty="0"/>
              <a:t>Model Training on Poisoned Data</a:t>
            </a:r>
            <a:r>
              <a:rPr lang="en-US" dirty="0"/>
              <a:t>:</a:t>
            </a:r>
          </a:p>
          <a:p>
            <a:pPr>
              <a:buFont typeface="Arial" panose="020B0604020202020204" pitchFamily="34" charset="0"/>
              <a:buChar char="•"/>
            </a:pPr>
            <a:r>
              <a:rPr lang="en-US" dirty="0"/>
              <a:t>The corrupted data is mixed with legitimate data, so the model trains on both correct and poisoned samples.</a:t>
            </a:r>
          </a:p>
          <a:p>
            <a:r>
              <a:rPr lang="en-US" b="1" dirty="0"/>
              <a:t>Training and Validation</a:t>
            </a:r>
            <a:r>
              <a:rPr lang="en-US" dirty="0"/>
              <a:t>:</a:t>
            </a:r>
          </a:p>
          <a:p>
            <a:pPr>
              <a:buFont typeface="Arial" panose="020B0604020202020204" pitchFamily="34" charset="0"/>
              <a:buChar char="•"/>
            </a:pPr>
            <a:r>
              <a:rPr lang="en-US" dirty="0"/>
              <a:t>Initially, the model may appear to perform well during validation (since the attack can be subtle), but over time, the misclassifications increase as the model gets "trained" to learn from incorrect associations.</a:t>
            </a:r>
          </a:p>
          <a:p>
            <a:r>
              <a:rPr lang="en-US" b="1" dirty="0"/>
              <a:t>Deployment of the Corrupted Model</a:t>
            </a:r>
            <a:r>
              <a:rPr lang="en-US" dirty="0"/>
              <a:t>:</a:t>
            </a:r>
          </a:p>
          <a:p>
            <a:pPr>
              <a:buFont typeface="Arial" panose="020B0604020202020204" pitchFamily="34" charset="0"/>
              <a:buChar char="•"/>
            </a:pPr>
            <a:r>
              <a:rPr lang="en-US" dirty="0"/>
              <a:t>Once deployed, the model exhibits poor generalization on real-world data, failing to make accurate predictions on legitimate inputs.</a:t>
            </a:r>
          </a:p>
          <a:p>
            <a:pPr>
              <a:buFont typeface="Arial" panose="020B0604020202020204" pitchFamily="34" charset="0"/>
              <a:buChar char="•"/>
            </a:pPr>
            <a:r>
              <a:rPr lang="en-US" dirty="0"/>
              <a:t>If a backdoor is involved, the model can be exploited later by presenting a trigger input (such as a specific pattern in an image).</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3</a:t>
            </a:fld>
            <a:endParaRPr lang="en-US"/>
          </a:p>
        </p:txBody>
      </p:sp>
    </p:spTree>
    <p:extLst>
      <p:ext uri="{BB962C8B-B14F-4D97-AF65-F5344CB8AC3E}">
        <p14:creationId xmlns:p14="http://schemas.microsoft.com/office/powerpoint/2010/main" val="4040436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Trainwreck attack is an example of an adversarial attack that can be used to undermine the performance of machine learning models in critical applications like cybersecurity, autonomous driving, facial recognition, and healthcare. The attack's subtlety and gradual impact make it particularly dangerous, as it can often go undetected until the model is already deployed.</a:t>
            </a:r>
          </a:p>
        </p:txBody>
      </p:sp>
      <p:sp>
        <p:nvSpPr>
          <p:cNvPr id="4" name="Slide Number Placeholder 3"/>
          <p:cNvSpPr>
            <a:spLocks noGrp="1"/>
          </p:cNvSpPr>
          <p:nvPr>
            <p:ph type="sldNum" sz="quarter" idx="5"/>
          </p:nvPr>
        </p:nvSpPr>
        <p:spPr/>
        <p:txBody>
          <a:bodyPr/>
          <a:lstStyle/>
          <a:p>
            <a:fld id="{E688FF9F-1DFD-480E-A84A-EC7666508F13}" type="slidenum">
              <a:rPr lang="en-US" smtClean="0"/>
              <a:t>4</a:t>
            </a:fld>
            <a:endParaRPr lang="en-US"/>
          </a:p>
        </p:txBody>
      </p:sp>
    </p:spTree>
    <p:extLst>
      <p:ext uri="{BB962C8B-B14F-4D97-AF65-F5344CB8AC3E}">
        <p14:creationId xmlns:p14="http://schemas.microsoft.com/office/powerpoint/2010/main" val="828664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 install command will not install torch with CUDA capabilities, that must be loaded separately based on your system’s hardware – link has a setup to install the correct version of torch with CUDA. If you have an NVIDIA card, you can run the command </a:t>
            </a:r>
            <a:r>
              <a:rPr lang="en-US" dirty="0" err="1"/>
              <a:t>nvidia-smi</a:t>
            </a:r>
            <a:r>
              <a:rPr lang="en-US" dirty="0"/>
              <a:t> to get details about the GPU, including which version of CUDA that it can use.</a:t>
            </a:r>
          </a:p>
        </p:txBody>
      </p:sp>
      <p:sp>
        <p:nvSpPr>
          <p:cNvPr id="4" name="Slide Number Placeholder 3"/>
          <p:cNvSpPr>
            <a:spLocks noGrp="1"/>
          </p:cNvSpPr>
          <p:nvPr>
            <p:ph type="sldNum" sz="quarter" idx="5"/>
          </p:nvPr>
        </p:nvSpPr>
        <p:spPr/>
        <p:txBody>
          <a:bodyPr/>
          <a:lstStyle/>
          <a:p>
            <a:fld id="{E688FF9F-1DFD-480E-A84A-EC7666508F13}" type="slidenum">
              <a:rPr lang="en-US" smtClean="0"/>
              <a:t>6</a:t>
            </a:fld>
            <a:endParaRPr lang="en-US"/>
          </a:p>
        </p:txBody>
      </p:sp>
    </p:spTree>
    <p:extLst>
      <p:ext uri="{BB962C8B-B14F-4D97-AF65-F5344CB8AC3E}">
        <p14:creationId xmlns:p14="http://schemas.microsoft.com/office/powerpoint/2010/main" val="1050795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starting, make sure that the dataset/s CIFAR-10 and CIFAR-100 are in the /data folder, as indicated by the ‘</a:t>
            </a:r>
            <a:r>
              <a:rPr lang="en-US" dirty="0" err="1"/>
              <a:t>RootDataDir</a:t>
            </a:r>
            <a:r>
              <a:rPr lang="en-US" dirty="0"/>
              <a:t>’ entry in the ‘config.ini’ file.</a:t>
            </a:r>
          </a:p>
          <a:p>
            <a:endParaRPr lang="en-US" dirty="0"/>
          </a:p>
          <a:p>
            <a:r>
              <a:rPr lang="en-US" dirty="0"/>
              <a:t>the commands for each step of the attack are in the README.md file: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E9178"/>
                </a:solidFill>
                <a:effectLst/>
                <a:latin typeface="Consolas" panose="020B0609020204030204" pitchFamily="49" charset="0"/>
              </a:rPr>
              <a:t>```python feature_extraction.py &lt;DATASET_ID&gt;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E9178"/>
                </a:solidFill>
                <a:effectLst/>
                <a:latin typeface="Consolas" panose="020B0609020204030204" pitchFamily="49" charset="0"/>
              </a:rPr>
              <a:t>```python attack_and_train.py clean &lt;DATASET_ID&gt; surrogate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 --</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 &lt;N_EPOCHS&gt;```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E9178"/>
                </a:solidFill>
                <a:effectLst/>
                <a:latin typeface="Consolas" panose="020B0609020204030204" pitchFamily="49" charset="0"/>
              </a:rPr>
              <a:t>```python craft_attack.py &lt;ATTACK_METHOD&gt; &lt;DATASET_ID&gt; &lt;POISON_RATE&gt; --</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 &lt;EPS&gt;```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E9178"/>
                </a:solidFill>
                <a:effectLst/>
                <a:latin typeface="Consolas" panose="020B0609020204030204" pitchFamily="49" charset="0"/>
              </a:rPr>
              <a:t>```python attack_and_train.py &lt;ATTACK_METHOD&gt; &lt;DATASET_ID&gt; &lt;TARGET_MODEL&gt; --</a:t>
            </a:r>
            <a:r>
              <a:rPr lang="en-US" b="0" dirty="0" err="1">
                <a:solidFill>
                  <a:srgbClr val="CE9178"/>
                </a:solidFill>
                <a:effectLst/>
                <a:latin typeface="Consolas" panose="020B0609020204030204" pitchFamily="49" charset="0"/>
              </a:rPr>
              <a:t>poison_rate</a:t>
            </a:r>
            <a:r>
              <a:rPr lang="en-US" b="0" dirty="0">
                <a:solidFill>
                  <a:srgbClr val="CE9178"/>
                </a:solidFill>
                <a:effectLst/>
                <a:latin typeface="Consolas" panose="020B0609020204030204" pitchFamily="49" charset="0"/>
              </a:rPr>
              <a:t> &lt;PI&gt; --</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 &lt;EPS&gt;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 --</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 &lt;N_EPOCHS&gt;```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CE9178"/>
                </a:solidFill>
                <a:effectLst/>
                <a:latin typeface="Consolas" panose="020B0609020204030204" pitchFamily="49" charset="0"/>
              </a:rPr>
              <a:t>```python results_analysis.py```</a:t>
            </a: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E9178"/>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E9178"/>
              </a:solidFill>
              <a:effectLst/>
              <a:latin typeface="Consolas" panose="020B0609020204030204" pitchFamily="49" charset="0"/>
            </a:endParaRP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a:t>
            </a:r>
            <a:r>
              <a:rPr lang="en-US" b="0" dirty="0">
                <a:solidFill>
                  <a:srgbClr val="CCCCCC"/>
                </a:solidFill>
                <a:effectLst/>
                <a:latin typeface="Consolas" panose="020B0609020204030204" pitchFamily="49" charset="0"/>
              </a:rPr>
              <a:t> is a valid dataset string ID recognized in </a:t>
            </a:r>
            <a:r>
              <a:rPr lang="en-US" b="0" dirty="0">
                <a:solidFill>
                  <a:srgbClr val="CE9178"/>
                </a:solidFill>
                <a:effectLst/>
                <a:latin typeface="Consolas" panose="020B0609020204030204" pitchFamily="49" charset="0"/>
              </a:rPr>
              <a:t>```datasets/dataset.py```</a:t>
            </a:r>
            <a:r>
              <a:rPr lang="en-US" b="0" dirty="0">
                <a:solidFill>
                  <a:srgbClr val="CCCCCC"/>
                </a:solidFill>
                <a:effectLst/>
                <a:latin typeface="Consolas" panose="020B0609020204030204" pitchFamily="49" charset="0"/>
              </a:rPr>
              <a:t>. By default, the recognized values are </a:t>
            </a:r>
            <a:r>
              <a:rPr lang="en-US" b="0" dirty="0">
                <a:solidFill>
                  <a:srgbClr val="CE9178"/>
                </a:solidFill>
                <a:effectLst/>
                <a:latin typeface="Consolas" panose="020B0609020204030204" pitchFamily="49" charset="0"/>
              </a:rPr>
              <a:t>```cifar10```</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```cifar100```</a:t>
            </a:r>
            <a:r>
              <a:rPr lang="en-US" b="0" dirty="0">
                <a:solidFill>
                  <a:srgbClr val="CCCCCC"/>
                </a:solidFill>
                <a:effectLst/>
                <a:latin typeface="Consolas" panose="020B0609020204030204" pitchFamily="49" charset="0"/>
              </a:rPr>
              <a:t>.</a:t>
            </a:r>
          </a:p>
          <a:p>
            <a:pPr marL="0" indent="0">
              <a:buFont typeface="Arial" panose="020B0604020202020204" pitchFamily="34" charset="0"/>
              <a:buNone/>
            </a:pPr>
            <a:r>
              <a:rPr lang="en-US" b="0" dirty="0">
                <a:solidFill>
                  <a:srgbClr val="CE9178"/>
                </a:solidFill>
                <a:effectLst/>
                <a:latin typeface="Consolas" panose="020B0609020204030204" pitchFamily="49" charset="0"/>
              </a:rPr>
              <a:t>* ```&lt;ATTACK_METHOD&gt;```</a:t>
            </a:r>
            <a:r>
              <a:rPr lang="en-US" b="0" dirty="0">
                <a:solidFill>
                  <a:srgbClr val="CCCCCC"/>
                </a:solidFill>
                <a:effectLst/>
                <a:latin typeface="Consolas" panose="020B0609020204030204" pitchFamily="49" charset="0"/>
              </a:rPr>
              <a:t> is the identifier of the attack method. Valid choices are </a:t>
            </a:r>
            <a:r>
              <a:rPr lang="en-US" b="0" dirty="0">
                <a:solidFill>
                  <a:srgbClr val="CE9178"/>
                </a:solidFill>
                <a:effectLst/>
                <a:latin typeface="Consolas" panose="020B0609020204030204" pitchFamily="49" charset="0"/>
              </a:rPr>
              <a:t>```trainwreck```</a:t>
            </a:r>
            <a:r>
              <a:rPr lang="en-US" b="0" dirty="0">
                <a:solidFill>
                  <a:srgbClr val="CCCCCC"/>
                </a:solidFill>
                <a:effectLst/>
                <a:latin typeface="Consolas" panose="020B0609020204030204" pitchFamily="49" charset="0"/>
              </a:rPr>
              <a:t> for the Trainwreck attack, the paper baselines are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randomswap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jsdswap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advreplace</a:t>
            </a:r>
            <a:r>
              <a:rPr lang="en-US" b="0" dirty="0">
                <a:solidFill>
                  <a:srgbClr val="CE9178"/>
                </a:solidFill>
                <a:effectLst/>
                <a:latin typeface="Consolas" panose="020B0609020204030204" pitchFamily="49" charset="0"/>
              </a:rPr>
              <a:t>``</a:t>
            </a:r>
          </a:p>
          <a:p>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```&lt;POISON_RATE&gt;```</a:t>
            </a:r>
            <a:r>
              <a:rPr lang="en-US" b="0" dirty="0">
                <a:solidFill>
                  <a:srgbClr val="CCCCCC"/>
                </a:solidFill>
                <a:effectLst/>
                <a:latin typeface="Consolas" panose="020B0609020204030204" pitchFamily="49" charset="0"/>
              </a:rPr>
              <a:t>, or </a:t>
            </a:r>
            <a:r>
              <a:rPr lang="en-US" b="0" i="1" dirty="0">
                <a:solidFill>
                  <a:srgbClr val="CCCCCC"/>
                </a:solidFill>
                <a:effectLst/>
                <a:latin typeface="Consolas" panose="020B0609020204030204" pitchFamily="49" charset="0"/>
              </a:rPr>
              <a:t>*π*</a:t>
            </a:r>
            <a:r>
              <a:rPr lang="en-US" b="0" dirty="0">
                <a:solidFill>
                  <a:srgbClr val="CCCCCC"/>
                </a:solidFill>
                <a:effectLst/>
                <a:latin typeface="Consolas" panose="020B0609020204030204" pitchFamily="49" charset="0"/>
              </a:rPr>
              <a:t> in the paper, is the proportion of the training data to be poisoned. It is a float value greater than 0 (no images poisoned) and less or equal to 1 (all images poisoned).</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```&lt;TARGET_MODEL```</a:t>
            </a:r>
            <a:r>
              <a:rPr lang="en-US" b="0" dirty="0">
                <a:solidFill>
                  <a:srgbClr val="CCCCCC"/>
                </a:solidFill>
                <a:effectLst/>
                <a:latin typeface="Consolas" panose="020B0609020204030204" pitchFamily="49" charset="0"/>
              </a:rPr>
              <a:t> is the model we are trying to attack by training it on the poisoned data. The supported values (corresponding to the paper) are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efficientnet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(EfficientNetV2),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resnext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(ResNeXt-101), and </a:t>
            </a:r>
            <a:r>
              <a:rPr lang="en-US" b="0" dirty="0">
                <a:solidFill>
                  <a:srgbClr val="CE9178"/>
                </a:solidFill>
                <a:effectLst/>
                <a:latin typeface="Consolas" panose="020B0609020204030204" pitchFamily="49" charset="0"/>
              </a:rPr>
              <a:t>```vit```</a:t>
            </a:r>
            <a:r>
              <a:rPr lang="en-US" b="0" dirty="0">
                <a:solidFill>
                  <a:srgbClr val="CCCCCC"/>
                </a:solidFill>
                <a:effectLst/>
                <a:latin typeface="Consolas" panose="020B0609020204030204" pitchFamily="49" charset="0"/>
              </a:rPr>
              <a:t> (FT-</a:t>
            </a:r>
            <a:r>
              <a:rPr lang="en-US" b="0" dirty="0" err="1">
                <a:solidFill>
                  <a:srgbClr val="CCCCCC"/>
                </a:solidFill>
                <a:effectLst/>
                <a:latin typeface="Consolas" panose="020B0609020204030204" pitchFamily="49" charset="0"/>
              </a:rPr>
              <a:t>ViT</a:t>
            </a:r>
            <a:r>
              <a:rPr lang="en-US" b="0" dirty="0">
                <a:solidFill>
                  <a:srgbClr val="CCCCCC"/>
                </a:solidFill>
                <a:effectLst/>
                <a:latin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used by the perturbation attacks (Trainwreck, </a:t>
            </a:r>
            <a:r>
              <a:rPr lang="en-US" b="0" dirty="0" err="1">
                <a:solidFill>
                  <a:srgbClr val="CCCCCC"/>
                </a:solidFill>
                <a:effectLst/>
                <a:latin typeface="Consolas" panose="020B0609020204030204" pitchFamily="49" charset="0"/>
              </a:rPr>
              <a:t>AdvReplace</a:t>
            </a:r>
            <a:r>
              <a:rPr lang="en-US" b="0" dirty="0">
                <a:solidFill>
                  <a:srgbClr val="CCCCCC"/>
                </a:solidFill>
                <a:effectLst/>
                <a:latin typeface="Consolas" panose="020B0609020204030204" pitchFamily="49" charset="0"/>
              </a:rPr>
              <a:t>) to denote the l-inf norm restriction on perturbation strength (commonly denoted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Note that this parameter is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in </a:t>
            </a:r>
            <a:r>
              <a:rPr lang="en-US" b="0" i="1" dirty="0">
                <a:solidFill>
                  <a:srgbClr val="CCCCCC"/>
                </a:solidFill>
                <a:effectLst/>
                <a:latin typeface="Consolas" panose="020B0609020204030204" pitchFamily="49" charset="0"/>
              </a:rPr>
              <a:t>*non-normalized*</a:t>
            </a:r>
            <a:r>
              <a:rPr lang="en-US" b="0" dirty="0">
                <a:solidFill>
                  <a:srgbClr val="CCCCCC"/>
                </a:solidFill>
                <a:effectLst/>
                <a:latin typeface="Consolas" panose="020B0609020204030204" pitchFamily="49" charset="0"/>
              </a:rPr>
              <a:t> pixel space, i.e., "the maximal pixel intensity difference in the 8-bit space (0-255)". A positive integer is expected, and the default is 8, matching the value in the paper (8/255 in the normalized 0-1 space).</a:t>
            </a:r>
          </a:p>
          <a:p>
            <a:pPr marL="0" indent="0">
              <a:buFont typeface="Arial" panose="020B0604020202020204" pitchFamily="34" charset="0"/>
              <a:buNone/>
            </a:pPr>
            <a:r>
              <a:rPr lang="en-US" b="0" dirty="0">
                <a:solidFill>
                  <a:srgbClr val="CE9178"/>
                </a:solidFill>
                <a:effectLst/>
                <a:latin typeface="Consolas" panose="020B0609020204030204" pitchFamily="49" charset="0"/>
              </a:rPr>
              <a: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batch size the feature extractor model will use. The default batch size is 1, but it is recommended to use a larger number if you can to speed the extraction up.</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number of training epochs. The default is 30 (the same value as in the paper).</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```--force```</a:t>
            </a:r>
            <a:r>
              <a:rPr lang="en-US" b="0" dirty="0">
                <a:solidFill>
                  <a:srgbClr val="CCCCCC"/>
                </a:solidFill>
                <a:effectLst/>
                <a:latin typeface="Consolas" panose="020B0609020204030204" pitchFamily="49" charset="0"/>
              </a:rPr>
              <a:t> is an optional parameter that forces the script to execute even if a run with the same parameters has been completed before. By default (when the parameter is not present), the script stops repeated execution on the same parameters.</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poison_rate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or </a:t>
            </a:r>
            <a:r>
              <a:rPr lang="en-US" b="0" i="1" dirty="0">
                <a:solidFill>
                  <a:srgbClr val="CCCCCC"/>
                </a:solidFill>
                <a:effectLst/>
                <a:latin typeface="Consolas" panose="020B0609020204030204" pitchFamily="49" charset="0"/>
              </a:rPr>
              <a:t>*π*</a:t>
            </a:r>
            <a:r>
              <a:rPr lang="en-US" b="0" dirty="0">
                <a:solidFill>
                  <a:srgbClr val="CCCCCC"/>
                </a:solidFill>
                <a:effectLst/>
                <a:latin typeface="Consolas" panose="020B0609020204030204" pitchFamily="49" charset="0"/>
              </a:rPr>
              <a:t> in the paper, is the proportion of the training data to be poisoned. It is a float value greater than 0 (no images poisoned) and less or equal to 1 (all images poisoned). Despite the "--" notation, this is a mandatory parameter, since the same script also trains the clean models for whom the poison rate param is meaningless.</a:t>
            </a:r>
          </a:p>
          <a:p>
            <a:pPr marL="0" indent="0">
              <a:buFont typeface="Arial" panose="020B0604020202020204" pitchFamily="34" charset="0"/>
              <a:buNone/>
            </a:pP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E9178"/>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7</a:t>
            </a:fld>
            <a:endParaRPr lang="en-US"/>
          </a:p>
        </p:txBody>
      </p:sp>
    </p:spTree>
    <p:extLst>
      <p:ext uri="{BB962C8B-B14F-4D97-AF65-F5344CB8AC3E}">
        <p14:creationId xmlns:p14="http://schemas.microsoft.com/office/powerpoint/2010/main" val="3758046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 cifar10</a:t>
            </a:r>
            <a:endParaRPr lang="en-US" b="0" dirty="0">
              <a:solidFill>
                <a:srgbClr val="CCCCCC"/>
              </a:solidFill>
              <a:effectLst/>
              <a:latin typeface="Consolas" panose="020B0609020204030204" pitchFamily="49" charset="0"/>
            </a:endParaRPr>
          </a:p>
          <a:p>
            <a:pPr marL="0" indent="0">
              <a:buFont typeface="Arial" panose="020B0604020202020204" pitchFamily="34" charset="0"/>
              <a:buNone/>
            </a:pPr>
            <a:r>
              <a:rPr lang="en-US" b="0" dirty="0">
                <a:solidFill>
                  <a:srgbClr val="CE9178"/>
                </a:solidFill>
                <a:effectLst/>
                <a:latin typeface="Consolas" panose="020B0609020204030204" pitchFamily="49" charset="0"/>
              </a:rPr>
              <a:t>* &lt;ATTACK_METHOD&gt;: trainwreck</a:t>
            </a:r>
          </a:p>
          <a:p>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&lt;POISON_RATE&gt;: 0.1</a:t>
            </a:r>
            <a:endParaRPr lang="en-US" b="0" dirty="0">
              <a:solidFill>
                <a:srgbClr val="CCCCCC"/>
              </a:solidFill>
              <a:effectLst/>
              <a:latin typeface="Consolas" panose="020B0609020204030204" pitchFamily="49" charset="0"/>
            </a:endParaRP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&lt;TARGET_MODEL&gt;: </a:t>
            </a:r>
            <a:r>
              <a:rPr lang="en-US" b="0" dirty="0" err="1">
                <a:solidFill>
                  <a:srgbClr val="CE9178"/>
                </a:solidFill>
                <a:effectLst/>
                <a:latin typeface="Consolas" panose="020B0609020204030204" pitchFamily="49" charset="0"/>
              </a:rPr>
              <a:t>resnet</a:t>
            </a: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 (OPTIONAL) 8</a:t>
            </a:r>
            <a:endParaRPr lang="en-US" b="0" dirty="0">
              <a:solidFill>
                <a:srgbClr val="CCCCCC"/>
              </a:solidFill>
              <a:effectLst/>
              <a:latin typeface="Consolas" panose="020B0609020204030204" pitchFamily="49" charset="0"/>
            </a:endParaRPr>
          </a:p>
          <a:p>
            <a:pPr marL="0" indent="0">
              <a:buFont typeface="Arial" panose="020B0604020202020204" pitchFamily="34" charset="0"/>
              <a:buNone/>
            </a:pPr>
            <a:r>
              <a:rPr lang="en-US" b="0" dirty="0">
                <a:solidFill>
                  <a:srgbClr val="CE9178"/>
                </a:solidFill>
                <a:effectLst/>
                <a:latin typeface="Consolas" panose="020B0609020204030204" pitchFamily="49" charset="0"/>
              </a:rPr>
              <a: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(OPTIONAL) 32</a:t>
            </a:r>
            <a:endParaRPr lang="en-US" b="0" dirty="0">
              <a:solidFill>
                <a:srgbClr val="CCCCCC"/>
              </a:solidFill>
              <a:effectLst/>
              <a:latin typeface="Consolas" panose="020B0609020204030204" pitchFamily="49" charset="0"/>
            </a:endParaRP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 (OPTIONAL) 30</a:t>
            </a:r>
            <a:endParaRPr lang="en-US" b="0" dirty="0">
              <a:solidFill>
                <a:srgbClr val="CCCCCC"/>
              </a:solidFill>
              <a:effectLst/>
              <a:latin typeface="Consolas" panose="020B0609020204030204" pitchFamily="49" charset="0"/>
            </a:endParaRPr>
          </a:p>
          <a:p>
            <a:pPr marL="0" indent="0">
              <a:buFont typeface="Arial" panose="020B0604020202020204" pitchFamily="34" charset="0"/>
              <a:buNone/>
            </a:pPr>
            <a:r>
              <a:rPr lang="en-US" b="0" dirty="0">
                <a:solidFill>
                  <a:srgbClr val="CE9178"/>
                </a:solidFill>
                <a:effectLst/>
                <a:latin typeface="Consolas" panose="020B0609020204030204" pitchFamily="49" charset="0"/>
              </a:rPr>
              <a:t>* --force: (OPTIONAL) false</a:t>
            </a:r>
            <a:r>
              <a:rPr lang="en-US" b="0" dirty="0">
                <a:solidFill>
                  <a:srgbClr val="CCCCCC"/>
                </a:solidFill>
                <a:effectLst/>
                <a:latin typeface="Consolas" panose="020B0609020204030204" pitchFamily="49" charset="0"/>
              </a:rPr>
              <a:t> </a:t>
            </a:r>
          </a:p>
          <a:p>
            <a:pPr marL="0" indent="0">
              <a:buFont typeface="Arial" panose="020B0604020202020204" pitchFamily="34" charset="0"/>
              <a:buNone/>
            </a:pP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poison_rate</a:t>
            </a:r>
            <a:r>
              <a:rPr lang="en-US" b="0" dirty="0">
                <a:solidFill>
                  <a:srgbClr val="CCCCCC"/>
                </a:solidFill>
                <a:effectLst/>
                <a:latin typeface="Consolas" panose="020B0609020204030204" pitchFamily="49" charset="0"/>
              </a:rPr>
              <a:t>: (NOT OPTIONAL!) 0.1</a:t>
            </a:r>
          </a:p>
          <a:p>
            <a:pPr marL="0" indent="0">
              <a:buFont typeface="Arial" panose="020B0604020202020204" pitchFamily="34" charset="0"/>
              <a:buNone/>
            </a:pP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E9178"/>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CCCCCC"/>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8</a:t>
            </a:fld>
            <a:endParaRPr lang="en-US"/>
          </a:p>
        </p:txBody>
      </p:sp>
    </p:spTree>
    <p:extLst>
      <p:ext uri="{BB962C8B-B14F-4D97-AF65-F5344CB8AC3E}">
        <p14:creationId xmlns:p14="http://schemas.microsoft.com/office/powerpoint/2010/main" val="2389701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The Trainwreck attack and one of the baselines in the paper (</a:t>
            </a:r>
            <a:r>
              <a:rPr lang="en-US" b="0" dirty="0" err="1">
                <a:solidFill>
                  <a:srgbClr val="CCCCCC"/>
                </a:solidFill>
                <a:effectLst/>
                <a:latin typeface="Consolas" panose="020B0609020204030204" pitchFamily="49" charset="0"/>
              </a:rPr>
              <a:t>JSDSwap</a:t>
            </a:r>
            <a:r>
              <a:rPr lang="en-US" b="0" dirty="0">
                <a:solidFill>
                  <a:srgbClr val="CCCCCC"/>
                </a:solidFill>
                <a:effectLst/>
                <a:latin typeface="Consolas" panose="020B0609020204030204" pitchFamily="49" charset="0"/>
              </a:rPr>
              <a:t>) require a class divergence matrix to be computed. The matrices for CIFAR-10 and CIFAR-100 are bundled with the code, so this step can be skipped. </a:t>
            </a: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If you want to compute the matrices manually, extract the features by running:</a:t>
            </a:r>
          </a:p>
          <a:p>
            <a:r>
              <a:rPr lang="en-US" b="0" dirty="0">
                <a:solidFill>
                  <a:srgbClr val="CE9178"/>
                </a:solidFill>
                <a:effectLst/>
                <a:latin typeface="Consolas" panose="020B0609020204030204" pitchFamily="49" charset="0"/>
              </a:rPr>
              <a:t>```feature_extraction.py &lt;DATASET_ID&gt;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a:t>
            </a:r>
            <a:r>
              <a:rPr lang="en-US" b="0" dirty="0">
                <a:solidFill>
                  <a:srgbClr val="CCCCCC"/>
                </a:solidFill>
                <a:effectLst/>
                <a:latin typeface="Consolas" panose="020B0609020204030204" pitchFamily="49" charset="0"/>
              </a:rPr>
              <a:t> is a valid dataset string ID recognized in </a:t>
            </a:r>
            <a:r>
              <a:rPr lang="en-US" b="0" dirty="0">
                <a:solidFill>
                  <a:srgbClr val="CE9178"/>
                </a:solidFill>
                <a:effectLst/>
                <a:latin typeface="Consolas" panose="020B0609020204030204" pitchFamily="49" charset="0"/>
              </a:rPr>
              <a:t>```datasets/dataset.py```</a:t>
            </a:r>
            <a:r>
              <a:rPr lang="en-US" b="0" dirty="0">
                <a:solidFill>
                  <a:srgbClr val="CCCCCC"/>
                </a:solidFill>
                <a:effectLst/>
                <a:latin typeface="Consolas" panose="020B0609020204030204" pitchFamily="49" charset="0"/>
              </a:rPr>
              <a:t>. By default, the recognized values are </a:t>
            </a:r>
            <a:r>
              <a:rPr lang="en-US" b="0" dirty="0">
                <a:solidFill>
                  <a:srgbClr val="CE9178"/>
                </a:solidFill>
                <a:effectLst/>
                <a:latin typeface="Consolas" panose="020B0609020204030204" pitchFamily="49" charset="0"/>
              </a:rPr>
              <a:t>```cifar10```</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```cifar100```</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batch size the feature extractor model will use. The default batch size is 1, but it is recommended to use a larger number if you can to speed the extraction up.</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9</a:t>
            </a:fld>
            <a:endParaRPr lang="en-US"/>
          </a:p>
        </p:txBody>
      </p:sp>
    </p:spTree>
    <p:extLst>
      <p:ext uri="{BB962C8B-B14F-4D97-AF65-F5344CB8AC3E}">
        <p14:creationId xmlns:p14="http://schemas.microsoft.com/office/powerpoint/2010/main" val="3717501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The Trainwreck attack and another experimental baseline from the paper, </a:t>
            </a:r>
            <a:r>
              <a:rPr lang="en-US" b="0" dirty="0" err="1">
                <a:solidFill>
                  <a:srgbClr val="CCCCCC"/>
                </a:solidFill>
                <a:effectLst/>
                <a:latin typeface="Consolas" panose="020B0609020204030204" pitchFamily="49" charset="0"/>
              </a:rPr>
              <a:t>AdvReplace</a:t>
            </a:r>
            <a:r>
              <a:rPr lang="en-US" b="0" dirty="0">
                <a:solidFill>
                  <a:srgbClr val="CCCCCC"/>
                </a:solidFill>
                <a:effectLst/>
                <a:latin typeface="Consolas" panose="020B0609020204030204" pitchFamily="49" charset="0"/>
              </a:rPr>
              <a:t>, use a </a:t>
            </a:r>
            <a:r>
              <a:rPr lang="en-US" b="0" i="1" dirty="0">
                <a:solidFill>
                  <a:srgbClr val="CCCCCC"/>
                </a:solidFill>
                <a:effectLst/>
                <a:latin typeface="Consolas" panose="020B0609020204030204" pitchFamily="49" charset="0"/>
              </a:rPr>
              <a:t>*surrogate model*</a:t>
            </a:r>
            <a:r>
              <a:rPr lang="en-US" b="0" dirty="0">
                <a:solidFill>
                  <a:srgbClr val="CCCCCC"/>
                </a:solidFill>
                <a:effectLst/>
                <a:latin typeface="Consolas" panose="020B0609020204030204" pitchFamily="49" charset="0"/>
              </a:rPr>
              <a:t> to craft the adversarial perturbations that poison the data. Currently, the code supports the ResNet-50 architecture for the surrogate model.</a:t>
            </a: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The weights for the models described in the paper (CIFAR-10/100, ResNet-50, trained for 30 epochs) are available [</a:t>
            </a:r>
            <a:r>
              <a:rPr lang="en-US" b="0" dirty="0">
                <a:solidFill>
                  <a:srgbClr val="CE9178"/>
                </a:solidFill>
                <a:effectLst/>
                <a:latin typeface="Consolas" panose="020B0609020204030204" pitchFamily="49" charset="0"/>
              </a:rPr>
              <a:t>here</a:t>
            </a:r>
            <a:r>
              <a:rPr lang="en-US" b="0" dirty="0">
                <a:solidFill>
                  <a:srgbClr val="CCCCCC"/>
                </a:solidFill>
                <a:effectLst/>
                <a:latin typeface="Consolas" panose="020B0609020204030204" pitchFamily="49" charset="0"/>
              </a:rPr>
              <a:t>](</a:t>
            </a:r>
            <a:r>
              <a:rPr lang="en-US" b="0" u="sng" dirty="0">
                <a:solidFill>
                  <a:srgbClr val="CCCCCC"/>
                </a:solidFill>
                <a:effectLst/>
                <a:latin typeface="Consolas" panose="020B0609020204030204" pitchFamily="49" charset="0"/>
              </a:rPr>
              <a:t>https://data.ciirc.cvut.cz/public/groups/ml/zahalka/trainwreck-surrogate_resnet50.zip</a:t>
            </a:r>
            <a:r>
              <a:rPr lang="en-US" b="0" dirty="0">
                <a:solidFill>
                  <a:srgbClr val="CCCCCC"/>
                </a:solidFill>
                <a:effectLst/>
                <a:latin typeface="Consolas" panose="020B0609020204030204" pitchFamily="49" charset="0"/>
              </a:rPr>
              <a:t>). Extract the ZIP file into </a:t>
            </a:r>
            <a:r>
              <a:rPr lang="en-US" b="0" dirty="0">
                <a:solidFill>
                  <a:srgbClr val="CE9178"/>
                </a:solidFill>
                <a:effectLst/>
                <a:latin typeface="Consolas" panose="020B0609020204030204" pitchFamily="49" charset="0"/>
              </a:rPr>
              <a:t>```&lt;REPOSITORY_ROOT&gt;/models```</a:t>
            </a:r>
            <a:r>
              <a:rPr lang="en-US" b="0" dirty="0">
                <a:solidFill>
                  <a:srgbClr val="CCCCCC"/>
                </a:solidFill>
                <a:effectLst/>
                <a:latin typeface="Consolas" panose="020B0609020204030204" pitchFamily="49" charset="0"/>
              </a:rPr>
              <a:t> (the </a:t>
            </a:r>
            <a:r>
              <a:rPr lang="en-US" b="0" dirty="0">
                <a:solidFill>
                  <a:srgbClr val="CE9178"/>
                </a:solidFill>
                <a:effectLst/>
                <a:latin typeface="Consolas" panose="020B0609020204030204" pitchFamily="49" charset="0"/>
              </a:rPr>
              <a:t>```models```</a:t>
            </a:r>
            <a:r>
              <a:rPr lang="en-US" b="0" dirty="0">
                <a:solidFill>
                  <a:srgbClr val="CCCCCC"/>
                </a:solidFill>
                <a:effectLst/>
                <a:latin typeface="Consolas" panose="020B0609020204030204" pitchFamily="49" charset="0"/>
              </a:rPr>
              <a:t> directory should now contain a </a:t>
            </a:r>
            <a:r>
              <a:rPr lang="en-US" b="0" dirty="0">
                <a:solidFill>
                  <a:srgbClr val="CE9178"/>
                </a:solidFill>
                <a:effectLst/>
                <a:latin typeface="Consolas" panose="020B0609020204030204" pitchFamily="49" charset="0"/>
              </a:rPr>
              <a:t>```weights```</a:t>
            </a:r>
            <a:r>
              <a:rPr lang="en-US" b="0" dirty="0">
                <a:solidFill>
                  <a:srgbClr val="CCCCCC"/>
                </a:solidFill>
                <a:effectLst/>
                <a:latin typeface="Consolas" panose="020B0609020204030204" pitchFamily="49" charset="0"/>
              </a:rPr>
              <a:t> directory that contains the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pth</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model weight files).</a:t>
            </a: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If you want to train your own surrogate model, run:</a:t>
            </a:r>
          </a:p>
          <a:p>
            <a:br>
              <a:rPr lang="en-US" b="0" dirty="0">
                <a:solidFill>
                  <a:srgbClr val="CCCCCC"/>
                </a:solidFill>
                <a:effectLst/>
                <a:latin typeface="Consolas" panose="020B0609020204030204" pitchFamily="49" charset="0"/>
              </a:rPr>
            </a:br>
            <a:r>
              <a:rPr lang="en-US" b="0" dirty="0">
                <a:solidFill>
                  <a:srgbClr val="CE9178"/>
                </a:solidFill>
                <a:effectLst/>
                <a:latin typeface="Consolas" panose="020B0609020204030204" pitchFamily="49" charset="0"/>
              </a:rPr>
              <a:t>```python attack_and_train.py clean &lt;DATASET_ID&gt; surrogate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 --</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 &lt;N_EPOCHS&gt;```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a:t>
            </a:r>
            <a:r>
              <a:rPr lang="en-US" b="0" dirty="0">
                <a:solidFill>
                  <a:srgbClr val="CCCCCC"/>
                </a:solidFill>
                <a:effectLst/>
                <a:latin typeface="Consolas" panose="020B0609020204030204" pitchFamily="49" charset="0"/>
              </a:rPr>
              <a:t> is a valid dataset string ID recognized in </a:t>
            </a:r>
            <a:r>
              <a:rPr lang="en-US" b="0" dirty="0">
                <a:solidFill>
                  <a:srgbClr val="CE9178"/>
                </a:solidFill>
                <a:effectLst/>
                <a:latin typeface="Consolas" panose="020B0609020204030204" pitchFamily="49" charset="0"/>
              </a:rPr>
              <a:t>```datasets/dataset.py```</a:t>
            </a:r>
            <a:r>
              <a:rPr lang="en-US" b="0" dirty="0">
                <a:solidFill>
                  <a:srgbClr val="CCCCCC"/>
                </a:solidFill>
                <a:effectLst/>
                <a:latin typeface="Consolas" panose="020B0609020204030204" pitchFamily="49" charset="0"/>
              </a:rPr>
              <a:t>. By default, the recognized values are </a:t>
            </a:r>
            <a:r>
              <a:rPr lang="en-US" b="0" dirty="0">
                <a:solidFill>
                  <a:srgbClr val="CE9178"/>
                </a:solidFill>
                <a:effectLst/>
                <a:latin typeface="Consolas" panose="020B0609020204030204" pitchFamily="49" charset="0"/>
              </a:rPr>
              <a:t>```cifar10```</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```cifar100```</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batch size the surrogate model will use for training. The default batch size is 1, but it is recommended to use a larger number if you can to speed the training up.</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number of training epochs. The default is 30 (the same value as in the paper).</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```--force```</a:t>
            </a:r>
            <a:r>
              <a:rPr lang="en-US" b="0" dirty="0">
                <a:solidFill>
                  <a:srgbClr val="CCCCCC"/>
                </a:solidFill>
                <a:effectLst/>
                <a:latin typeface="Consolas" panose="020B0609020204030204" pitchFamily="49" charset="0"/>
              </a:rPr>
              <a:t> is an optional parameter that forces the script to execute even if a run with the same parameters has been completed before. By default (when the parameter is not present), the script stops repeated execution on the same parameters.</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10</a:t>
            </a:fld>
            <a:endParaRPr lang="en-US"/>
          </a:p>
        </p:txBody>
      </p:sp>
    </p:spTree>
    <p:extLst>
      <p:ext uri="{BB962C8B-B14F-4D97-AF65-F5344CB8AC3E}">
        <p14:creationId xmlns:p14="http://schemas.microsoft.com/office/powerpoint/2010/main" val="3856420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Next, we craft the attack by running:</a:t>
            </a:r>
          </a:p>
          <a:p>
            <a:br>
              <a:rPr lang="en-US" b="0" dirty="0">
                <a:solidFill>
                  <a:srgbClr val="CCCCCC"/>
                </a:solidFill>
                <a:effectLst/>
                <a:latin typeface="Consolas" panose="020B0609020204030204" pitchFamily="49" charset="0"/>
              </a:rPr>
            </a:br>
            <a:r>
              <a:rPr lang="en-US" b="0" dirty="0">
                <a:solidFill>
                  <a:srgbClr val="CE9178"/>
                </a:solidFill>
                <a:effectLst/>
                <a:latin typeface="Consolas" panose="020B0609020204030204" pitchFamily="49" charset="0"/>
              </a:rPr>
              <a:t>```python craft_attack.py &lt;ATTACK_METHOD&gt; &lt;DATASET_ID&gt; &lt;POISON_RATE&gt; --</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 &lt;EPS&gt;```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```&lt;ATTACK_METHOD&gt;```</a:t>
            </a:r>
            <a:r>
              <a:rPr lang="en-US" b="0" dirty="0">
                <a:solidFill>
                  <a:srgbClr val="CCCCCC"/>
                </a:solidFill>
                <a:effectLst/>
                <a:latin typeface="Consolas" panose="020B0609020204030204" pitchFamily="49" charset="0"/>
              </a:rPr>
              <a:t> is the identifier of the attack method. Valid choices are </a:t>
            </a:r>
            <a:r>
              <a:rPr lang="en-US" b="0" dirty="0">
                <a:solidFill>
                  <a:srgbClr val="CE9178"/>
                </a:solidFill>
                <a:effectLst/>
                <a:latin typeface="Consolas" panose="020B0609020204030204" pitchFamily="49" charset="0"/>
              </a:rPr>
              <a:t>```trainwreck```</a:t>
            </a:r>
            <a:r>
              <a:rPr lang="en-US" b="0" dirty="0">
                <a:solidFill>
                  <a:srgbClr val="CCCCCC"/>
                </a:solidFill>
                <a:effectLst/>
                <a:latin typeface="Consolas" panose="020B0609020204030204" pitchFamily="49" charset="0"/>
              </a:rPr>
              <a:t> for the Trainwreck attack, the paper baselines are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randomswap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jsdswap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advreplace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a:t>
            </a:r>
            <a:r>
              <a:rPr lang="en-US" b="0" dirty="0">
                <a:solidFill>
                  <a:srgbClr val="CCCCCC"/>
                </a:solidFill>
                <a:effectLst/>
                <a:latin typeface="Consolas" panose="020B0609020204030204" pitchFamily="49" charset="0"/>
              </a:rPr>
              <a:t> is a valid dataset string ID recognized in </a:t>
            </a:r>
            <a:r>
              <a:rPr lang="en-US" b="0" dirty="0">
                <a:solidFill>
                  <a:srgbClr val="CE9178"/>
                </a:solidFill>
                <a:effectLst/>
                <a:latin typeface="Consolas" panose="020B0609020204030204" pitchFamily="49" charset="0"/>
              </a:rPr>
              <a:t>```datasets/dataset.py```</a:t>
            </a:r>
            <a:r>
              <a:rPr lang="en-US" b="0" dirty="0">
                <a:solidFill>
                  <a:srgbClr val="CCCCCC"/>
                </a:solidFill>
                <a:effectLst/>
                <a:latin typeface="Consolas" panose="020B0609020204030204" pitchFamily="49" charset="0"/>
              </a:rPr>
              <a:t>. By default, the recognized values are </a:t>
            </a:r>
            <a:r>
              <a:rPr lang="en-US" b="0" dirty="0">
                <a:solidFill>
                  <a:srgbClr val="CE9178"/>
                </a:solidFill>
                <a:effectLst/>
                <a:latin typeface="Consolas" panose="020B0609020204030204" pitchFamily="49" charset="0"/>
              </a:rPr>
              <a:t>```cifar10```</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```cifar100```</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```&lt;POISON_RATE&gt;```</a:t>
            </a:r>
            <a:r>
              <a:rPr lang="en-US" b="0" dirty="0">
                <a:solidFill>
                  <a:srgbClr val="CCCCCC"/>
                </a:solidFill>
                <a:effectLst/>
                <a:latin typeface="Consolas" panose="020B0609020204030204" pitchFamily="49" charset="0"/>
              </a:rPr>
              <a:t>, or </a:t>
            </a:r>
            <a:r>
              <a:rPr lang="en-US" b="0" i="1" dirty="0">
                <a:solidFill>
                  <a:srgbClr val="CCCCCC"/>
                </a:solidFill>
                <a:effectLst/>
                <a:latin typeface="Consolas" panose="020B0609020204030204" pitchFamily="49" charset="0"/>
              </a:rPr>
              <a:t>*π*</a:t>
            </a:r>
            <a:r>
              <a:rPr lang="en-US" b="0" dirty="0">
                <a:solidFill>
                  <a:srgbClr val="CCCCCC"/>
                </a:solidFill>
                <a:effectLst/>
                <a:latin typeface="Consolas" panose="020B0609020204030204" pitchFamily="49" charset="0"/>
              </a:rPr>
              <a:t> in the paper, is the proportion of the training data to be poisoned. It is a float value greater than 0 (no images poisoned) and less or equal to 1 (all images poisoned).</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used by the perturbation attacks (Trainwreck, </a:t>
            </a:r>
            <a:r>
              <a:rPr lang="en-US" b="0" dirty="0" err="1">
                <a:solidFill>
                  <a:srgbClr val="CCCCCC"/>
                </a:solidFill>
                <a:effectLst/>
                <a:latin typeface="Consolas" panose="020B0609020204030204" pitchFamily="49" charset="0"/>
              </a:rPr>
              <a:t>AdvReplace</a:t>
            </a:r>
            <a:r>
              <a:rPr lang="en-US" b="0" dirty="0">
                <a:solidFill>
                  <a:srgbClr val="CCCCCC"/>
                </a:solidFill>
                <a:effectLst/>
                <a:latin typeface="Consolas" panose="020B0609020204030204" pitchFamily="49" charset="0"/>
              </a:rPr>
              <a:t>) to denote the l-inf norm restriction on perturbation strength (commonly denoted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Note that this parameter is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in </a:t>
            </a:r>
            <a:r>
              <a:rPr lang="en-US" b="0" i="1" dirty="0">
                <a:solidFill>
                  <a:srgbClr val="CCCCCC"/>
                </a:solidFill>
                <a:effectLst/>
                <a:latin typeface="Consolas" panose="020B0609020204030204" pitchFamily="49" charset="0"/>
              </a:rPr>
              <a:t>*non-normalized*</a:t>
            </a:r>
            <a:r>
              <a:rPr lang="en-US" b="0" dirty="0">
                <a:solidFill>
                  <a:srgbClr val="CCCCCC"/>
                </a:solidFill>
                <a:effectLst/>
                <a:latin typeface="Consolas" panose="020B0609020204030204" pitchFamily="49" charset="0"/>
              </a:rPr>
              <a:t> pixel space, i.e., "the maximal pixel intensity difference in the 8-bit space (0-255)". A positive integer is expected, and the default is 8, matching the value in the paper (8/255 in the normalized 0-1 space).</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11</a:t>
            </a:fld>
            <a:endParaRPr lang="en-US"/>
          </a:p>
        </p:txBody>
      </p:sp>
    </p:spTree>
    <p:extLst>
      <p:ext uri="{BB962C8B-B14F-4D97-AF65-F5344CB8AC3E}">
        <p14:creationId xmlns:p14="http://schemas.microsoft.com/office/powerpoint/2010/main" val="28612323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CCCCCC"/>
                </a:solidFill>
                <a:effectLst/>
                <a:latin typeface="Consolas" panose="020B0609020204030204" pitchFamily="49" charset="0"/>
              </a:rPr>
              <a:t>Then, we use the crafted attack to poison the data and train a model on them:</a:t>
            </a:r>
          </a:p>
          <a:p>
            <a:br>
              <a:rPr lang="en-US" b="0" dirty="0">
                <a:solidFill>
                  <a:srgbClr val="CCCCCC"/>
                </a:solidFill>
                <a:effectLst/>
                <a:latin typeface="Consolas" panose="020B0609020204030204" pitchFamily="49" charset="0"/>
              </a:rPr>
            </a:br>
            <a:r>
              <a:rPr lang="en-US" b="0" dirty="0">
                <a:solidFill>
                  <a:srgbClr val="CE9178"/>
                </a:solidFill>
                <a:effectLst/>
                <a:latin typeface="Consolas" panose="020B0609020204030204" pitchFamily="49" charset="0"/>
              </a:rPr>
              <a:t>```python attack_and_train.py &lt;ATTACK_METHOD&gt; &lt;DATASET_ID&gt; &lt;TARGET_MODEL&gt; --</a:t>
            </a:r>
            <a:r>
              <a:rPr lang="en-US" b="0" dirty="0" err="1">
                <a:solidFill>
                  <a:srgbClr val="CE9178"/>
                </a:solidFill>
                <a:effectLst/>
                <a:latin typeface="Consolas" panose="020B0609020204030204" pitchFamily="49" charset="0"/>
              </a:rPr>
              <a:t>poison_rate</a:t>
            </a:r>
            <a:r>
              <a:rPr lang="en-US" b="0" dirty="0">
                <a:solidFill>
                  <a:srgbClr val="CE9178"/>
                </a:solidFill>
                <a:effectLst/>
                <a:latin typeface="Consolas" panose="020B0609020204030204" pitchFamily="49" charset="0"/>
              </a:rPr>
              <a:t> &lt;PI&gt; --</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 &lt;EPS&gt; --</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 &lt;BATCH_SIZE&gt; --</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 &lt;N_EPOCHS&gt;```</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```&lt;ATTACK_METHOD&gt;```</a:t>
            </a:r>
            <a:r>
              <a:rPr lang="en-US" b="0" dirty="0">
                <a:solidFill>
                  <a:srgbClr val="CCCCCC"/>
                </a:solidFill>
                <a:effectLst/>
                <a:latin typeface="Consolas" panose="020B0609020204030204" pitchFamily="49" charset="0"/>
              </a:rPr>
              <a:t> is the identifier of the attack method. Valid choices are </a:t>
            </a:r>
            <a:r>
              <a:rPr lang="en-US" b="0" dirty="0">
                <a:solidFill>
                  <a:srgbClr val="CE9178"/>
                </a:solidFill>
                <a:effectLst/>
                <a:latin typeface="Consolas" panose="020B0609020204030204" pitchFamily="49" charset="0"/>
              </a:rPr>
              <a:t>```trainwreck```</a:t>
            </a:r>
            <a:r>
              <a:rPr lang="en-US" b="0" dirty="0">
                <a:solidFill>
                  <a:srgbClr val="CCCCCC"/>
                </a:solidFill>
                <a:effectLst/>
                <a:latin typeface="Consolas" panose="020B0609020204030204" pitchFamily="49" charset="0"/>
              </a:rPr>
              <a:t> for the Trainwreck attack, the paper baselines are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randomswap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jsdswap</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advreplace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```&lt;DATASET_ID&gt;```</a:t>
            </a:r>
            <a:r>
              <a:rPr lang="en-US" b="0" dirty="0">
                <a:solidFill>
                  <a:srgbClr val="CCCCCC"/>
                </a:solidFill>
                <a:effectLst/>
                <a:latin typeface="Consolas" panose="020B0609020204030204" pitchFamily="49" charset="0"/>
              </a:rPr>
              <a:t> is a valid dataset string ID recognized in </a:t>
            </a:r>
            <a:r>
              <a:rPr lang="en-US" b="0" dirty="0">
                <a:solidFill>
                  <a:srgbClr val="CE9178"/>
                </a:solidFill>
                <a:effectLst/>
                <a:latin typeface="Consolas" panose="020B0609020204030204" pitchFamily="49" charset="0"/>
              </a:rPr>
              <a:t>```datasets/dataset.py```</a:t>
            </a:r>
            <a:r>
              <a:rPr lang="en-US" b="0" dirty="0">
                <a:solidFill>
                  <a:srgbClr val="CCCCCC"/>
                </a:solidFill>
                <a:effectLst/>
                <a:latin typeface="Consolas" panose="020B0609020204030204" pitchFamily="49" charset="0"/>
              </a:rPr>
              <a:t>. By default, the recognized values are </a:t>
            </a:r>
            <a:r>
              <a:rPr lang="en-US" b="0" dirty="0">
                <a:solidFill>
                  <a:srgbClr val="CE9178"/>
                </a:solidFill>
                <a:effectLst/>
                <a:latin typeface="Consolas" panose="020B0609020204030204" pitchFamily="49" charset="0"/>
              </a:rPr>
              <a:t>```cifar10```</a:t>
            </a:r>
            <a:r>
              <a:rPr lang="en-US" b="0" dirty="0">
                <a:solidFill>
                  <a:srgbClr val="CCCCCC"/>
                </a:solidFill>
                <a:effectLst/>
                <a:latin typeface="Consolas" panose="020B0609020204030204" pitchFamily="49" charset="0"/>
              </a:rPr>
              <a:t> and </a:t>
            </a:r>
            <a:r>
              <a:rPr lang="en-US" b="0" dirty="0">
                <a:solidFill>
                  <a:srgbClr val="CE9178"/>
                </a:solidFill>
                <a:effectLst/>
                <a:latin typeface="Consolas" panose="020B0609020204030204" pitchFamily="49" charset="0"/>
              </a:rPr>
              <a:t>```cifar100```</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```&lt;TARGET_MODEL```</a:t>
            </a:r>
            <a:r>
              <a:rPr lang="en-US" b="0" dirty="0">
                <a:solidFill>
                  <a:srgbClr val="CCCCCC"/>
                </a:solidFill>
                <a:effectLst/>
                <a:latin typeface="Consolas" panose="020B0609020204030204" pitchFamily="49" charset="0"/>
              </a:rPr>
              <a:t> is the model we are trying to attack by training it on the poisoned data. The supported values (corresponding to the paper) are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efficientnet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(EfficientNetV2),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resnext</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(ResNeXt-101), and </a:t>
            </a:r>
            <a:r>
              <a:rPr lang="en-US" b="0" dirty="0">
                <a:solidFill>
                  <a:srgbClr val="CE9178"/>
                </a:solidFill>
                <a:effectLst/>
                <a:latin typeface="Consolas" panose="020B0609020204030204" pitchFamily="49" charset="0"/>
              </a:rPr>
              <a:t>```vit```</a:t>
            </a:r>
            <a:r>
              <a:rPr lang="en-US" b="0" dirty="0">
                <a:solidFill>
                  <a:srgbClr val="CCCCCC"/>
                </a:solidFill>
                <a:effectLst/>
                <a:latin typeface="Consolas" panose="020B0609020204030204" pitchFamily="49" charset="0"/>
              </a:rPr>
              <a:t> (FT-</a:t>
            </a:r>
            <a:r>
              <a:rPr lang="en-US" b="0" dirty="0" err="1">
                <a:solidFill>
                  <a:srgbClr val="CCCCCC"/>
                </a:solidFill>
                <a:effectLst/>
                <a:latin typeface="Consolas" panose="020B0609020204030204" pitchFamily="49" charset="0"/>
              </a:rPr>
              <a:t>ViT</a:t>
            </a:r>
            <a:r>
              <a:rPr lang="en-US" b="0" dirty="0">
                <a:solidFill>
                  <a:srgbClr val="CCCCCC"/>
                </a:solidFill>
                <a:effectLst/>
                <a:latin typeface="Consolas" panose="020B0609020204030204" pitchFamily="49" charset="0"/>
              </a:rPr>
              <a:t>).</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poison_rate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or </a:t>
            </a:r>
            <a:r>
              <a:rPr lang="en-US" b="0" i="1" dirty="0">
                <a:solidFill>
                  <a:srgbClr val="CCCCCC"/>
                </a:solidFill>
                <a:effectLst/>
                <a:latin typeface="Consolas" panose="020B0609020204030204" pitchFamily="49" charset="0"/>
              </a:rPr>
              <a:t>*π*</a:t>
            </a:r>
            <a:r>
              <a:rPr lang="en-US" b="0" dirty="0">
                <a:solidFill>
                  <a:srgbClr val="CCCCCC"/>
                </a:solidFill>
                <a:effectLst/>
                <a:latin typeface="Consolas" panose="020B0609020204030204" pitchFamily="49" charset="0"/>
              </a:rPr>
              <a:t> in the paper, is the proportion of the training data to be poisoned. It is a float value greater than 0 (no images poisoned) and less or equal to 1 (all images poisoned). Despite the "--" notation, this is a mandatory parameter, since the same script also trains the clean models for whom the poison rate param is meaningless.</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epsilon_px</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used by the perturbation attacks (Trainwreck, </a:t>
            </a:r>
            <a:r>
              <a:rPr lang="en-US" b="0" dirty="0" err="1">
                <a:solidFill>
                  <a:srgbClr val="CCCCCC"/>
                </a:solidFill>
                <a:effectLst/>
                <a:latin typeface="Consolas" panose="020B0609020204030204" pitchFamily="49" charset="0"/>
              </a:rPr>
              <a:t>AdvReplace</a:t>
            </a:r>
            <a:r>
              <a:rPr lang="en-US" b="0" dirty="0">
                <a:solidFill>
                  <a:srgbClr val="CCCCCC"/>
                </a:solidFill>
                <a:effectLst/>
                <a:latin typeface="Consolas" panose="020B0609020204030204" pitchFamily="49" charset="0"/>
              </a:rPr>
              <a:t>) to denote the l-inf norm restriction on perturbation strength (commonly denoted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Note that this parameter is </a:t>
            </a:r>
            <a:r>
              <a:rPr lang="en-US" b="0" i="1" dirty="0">
                <a:solidFill>
                  <a:srgbClr val="CCCCCC"/>
                </a:solidFill>
                <a:effectLst/>
                <a:latin typeface="Consolas" panose="020B0609020204030204" pitchFamily="49" charset="0"/>
              </a:rPr>
              <a:t>*ε*</a:t>
            </a:r>
            <a:r>
              <a:rPr lang="en-US" b="0" dirty="0">
                <a:solidFill>
                  <a:srgbClr val="CCCCCC"/>
                </a:solidFill>
                <a:effectLst/>
                <a:latin typeface="Consolas" panose="020B0609020204030204" pitchFamily="49" charset="0"/>
              </a:rPr>
              <a:t> in </a:t>
            </a:r>
            <a:r>
              <a:rPr lang="en-US" b="0" i="1" dirty="0">
                <a:solidFill>
                  <a:srgbClr val="CCCCCC"/>
                </a:solidFill>
                <a:effectLst/>
                <a:latin typeface="Consolas" panose="020B0609020204030204" pitchFamily="49" charset="0"/>
              </a:rPr>
              <a:t>*non-normalized*</a:t>
            </a:r>
            <a:r>
              <a:rPr lang="en-US" b="0" dirty="0">
                <a:solidFill>
                  <a:srgbClr val="CCCCCC"/>
                </a:solidFill>
                <a:effectLst/>
                <a:latin typeface="Consolas" panose="020B0609020204030204" pitchFamily="49" charset="0"/>
              </a:rPr>
              <a:t> pixel space, i.e., "the maximal pixel intensity difference in the 8-bit space (0-255)". A positive integer is expected, and the default is 8, matching the value in the paper (8/255 in the normalized 0-1 space).</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batch_size</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batch size the surrogate model will use for training. The default batch size is 1, but it is recommended to use a larger number if you can to speed the training up.</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a:t>
            </a:r>
            <a:r>
              <a:rPr lang="en-US" b="0" dirty="0" err="1">
                <a:solidFill>
                  <a:srgbClr val="CE9178"/>
                </a:solidFill>
                <a:effectLst/>
                <a:latin typeface="Consolas" panose="020B0609020204030204" pitchFamily="49" charset="0"/>
              </a:rPr>
              <a:t>n_epochs</a:t>
            </a:r>
            <a:r>
              <a:rPr lang="en-US" b="0" dirty="0">
                <a:solidFill>
                  <a:srgbClr val="CE9178"/>
                </a:solidFill>
                <a:effectLst/>
                <a:latin typeface="Consolas" panose="020B0609020204030204" pitchFamily="49" charset="0"/>
              </a:rPr>
              <a:t>``</a:t>
            </a:r>
            <a:r>
              <a:rPr lang="en-US" b="0" dirty="0">
                <a:solidFill>
                  <a:srgbClr val="CCCCCC"/>
                </a:solidFill>
                <a:effectLst/>
                <a:latin typeface="Consolas" panose="020B0609020204030204" pitchFamily="49" charset="0"/>
              </a:rPr>
              <a:t> is an optional parameter specifying the number of training epochs. The default is 30 (the same value as in the paper).</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0" dirty="0">
                <a:solidFill>
                  <a:srgbClr val="CE9178"/>
                </a:solidFill>
                <a:effectLst/>
                <a:latin typeface="Consolas" panose="020B0609020204030204" pitchFamily="49" charset="0"/>
              </a:rPr>
              <a:t>```--force```</a:t>
            </a:r>
            <a:r>
              <a:rPr lang="en-US" b="0" dirty="0">
                <a:solidFill>
                  <a:srgbClr val="CCCCCC"/>
                </a:solidFill>
                <a:effectLst/>
                <a:latin typeface="Consolas" panose="020B0609020204030204" pitchFamily="49" charset="0"/>
              </a:rPr>
              <a:t> is an optional parameter that forces the script to execute even if a run with the same parameters has been completed before. By default (when the parameter is not present), the script stops repeated execution on the same parameters.</a:t>
            </a: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The trained models are stored in the </a:t>
            </a:r>
            <a:r>
              <a:rPr lang="en-US" b="0" dirty="0">
                <a:solidFill>
                  <a:srgbClr val="CE9178"/>
                </a:solidFill>
                <a:effectLst/>
                <a:latin typeface="Consolas" panose="020B0609020204030204" pitchFamily="49" charset="0"/>
              </a:rPr>
              <a:t>```&lt;REPOSITORY_ROOT&gt;/models/weights```</a:t>
            </a:r>
            <a:r>
              <a:rPr lang="en-US" b="0" dirty="0">
                <a:solidFill>
                  <a:srgbClr val="CCCCCC"/>
                </a:solidFill>
                <a:effectLst/>
                <a:latin typeface="Consolas" panose="020B0609020204030204" pitchFamily="49" charset="0"/>
              </a:rPr>
              <a:t> directory. The code implements a recovery mechanism: if a training session gets interrupted, running </a:t>
            </a:r>
            <a:r>
              <a:rPr lang="en-US" b="0" dirty="0">
                <a:solidFill>
                  <a:srgbClr val="CE9178"/>
                </a:solidFill>
                <a:effectLst/>
                <a:latin typeface="Consolas" panose="020B0609020204030204" pitchFamily="49" charset="0"/>
              </a:rPr>
              <a:t>```attack_and_train.py```</a:t>
            </a:r>
            <a:r>
              <a:rPr lang="en-US" b="0" dirty="0">
                <a:solidFill>
                  <a:srgbClr val="CCCCCC"/>
                </a:solidFill>
                <a:effectLst/>
                <a:latin typeface="Consolas" panose="020B0609020204030204" pitchFamily="49" charset="0"/>
              </a:rPr>
              <a:t> again on the same parameters picks the training up from the weights from the last epoch.</a:t>
            </a: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Note that the attack only works if Step 4 had been run before with the same attack method parameters (method ID, dataset, poison rate, epsilon) as given to the Step 5 script.</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12</a:t>
            </a:fld>
            <a:endParaRPr lang="en-US"/>
          </a:p>
        </p:txBody>
      </p:sp>
    </p:spTree>
    <p:extLst>
      <p:ext uri="{BB962C8B-B14F-4D97-AF65-F5344CB8AC3E}">
        <p14:creationId xmlns:p14="http://schemas.microsoft.com/office/powerpoint/2010/main" val="1728933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569CD6"/>
                </a:solidFill>
                <a:effectLst/>
                <a:latin typeface="Consolas" panose="020B0609020204030204" pitchFamily="49" charset="0"/>
              </a:rPr>
              <a:t>## Step 6: Results analysis</a:t>
            </a:r>
            <a:endParaRPr lang="en-US" b="0" dirty="0">
              <a:solidFill>
                <a:srgbClr val="CCCCCC"/>
              </a:solidFill>
              <a:effectLst/>
              <a:latin typeface="Consolas" panose="020B0609020204030204" pitchFamily="49" charset="0"/>
            </a:endParaRPr>
          </a:p>
          <a:p>
            <a:r>
              <a:rPr lang="en-US" b="0" dirty="0">
                <a:solidFill>
                  <a:srgbClr val="CCCCCC"/>
                </a:solidFill>
                <a:effectLst/>
                <a:latin typeface="Consolas" panose="020B0609020204030204" pitchFamily="49" charset="0"/>
              </a:rPr>
              <a:t>To get human-readable results analysis, run:</a:t>
            </a:r>
          </a:p>
          <a:p>
            <a:br>
              <a:rPr lang="en-US" b="0" dirty="0">
                <a:solidFill>
                  <a:srgbClr val="CCCCCC"/>
                </a:solidFill>
                <a:effectLst/>
                <a:latin typeface="Consolas" panose="020B0609020204030204" pitchFamily="49" charset="0"/>
              </a:rPr>
            </a:br>
            <a:r>
              <a:rPr lang="en-US" b="0" dirty="0">
                <a:solidFill>
                  <a:srgbClr val="CE9178"/>
                </a:solidFill>
                <a:effectLst/>
                <a:latin typeface="Consolas" panose="020B0609020204030204" pitchFamily="49" charset="0"/>
              </a:rPr>
              <a:t>```python results_analysis.py```</a:t>
            </a:r>
            <a:endParaRPr lang="en-US" b="0" dirty="0">
              <a:solidFill>
                <a:srgbClr val="CCCCCC"/>
              </a:solidFill>
              <a:effectLst/>
              <a:latin typeface="Consolas" panose="020B0609020204030204" pitchFamily="49" charset="0"/>
            </a:endParaRPr>
          </a:p>
          <a:p>
            <a:br>
              <a:rPr lang="en-US" b="0" dirty="0">
                <a:solidFill>
                  <a:srgbClr val="CCCCCC"/>
                </a:solidFill>
                <a:effectLst/>
                <a:latin typeface="Consolas" panose="020B0609020204030204" pitchFamily="49" charset="0"/>
              </a:rPr>
            </a:br>
            <a:r>
              <a:rPr lang="en-US" b="0" dirty="0">
                <a:solidFill>
                  <a:srgbClr val="CCCCCC"/>
                </a:solidFill>
                <a:effectLst/>
                <a:latin typeface="Consolas" panose="020B0609020204030204" pitchFamily="49" charset="0"/>
              </a:rPr>
              <a:t>In the </a:t>
            </a:r>
            <a:r>
              <a:rPr lang="en-US" b="0" dirty="0">
                <a:solidFill>
                  <a:srgbClr val="CE9178"/>
                </a:solidFill>
                <a:effectLst/>
                <a:latin typeface="Consolas" panose="020B0609020204030204" pitchFamily="49" charset="0"/>
              </a:rPr>
              <a:t>```&lt;REPOSITORY_ROOT&gt;/results/analysis```</a:t>
            </a:r>
            <a:r>
              <a:rPr lang="en-US" b="0" dirty="0">
                <a:solidFill>
                  <a:srgbClr val="CCCCCC"/>
                </a:solidFill>
                <a:effectLst/>
                <a:latin typeface="Consolas" panose="020B0609020204030204" pitchFamily="49" charset="0"/>
              </a:rPr>
              <a:t> directory, this script will output </a:t>
            </a:r>
            <a:r>
              <a:rPr lang="en-US" b="0" dirty="0">
                <a:solidFill>
                  <a:srgbClr val="CE9178"/>
                </a:solidFill>
                <a:effectLst/>
                <a:latin typeface="Consolas" panose="020B0609020204030204" pitchFamily="49" charset="0"/>
              </a:rPr>
              <a:t>```best_metrics.csv```</a:t>
            </a:r>
            <a:r>
              <a:rPr lang="en-US" b="0" dirty="0">
                <a:solidFill>
                  <a:srgbClr val="CCCCCC"/>
                </a:solidFill>
                <a:effectLst/>
                <a:latin typeface="Consolas" panose="020B0609020204030204" pitchFamily="49" charset="0"/>
              </a:rPr>
              <a:t>, a CSV file with the best test top-1 accuracy, top-5 accuracy, and cross-entropy loss attained in the last 10 epochs of the training.</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13</a:t>
            </a:fld>
            <a:endParaRPr lang="en-US"/>
          </a:p>
        </p:txBody>
      </p:sp>
    </p:spTree>
    <p:extLst>
      <p:ext uri="{BB962C8B-B14F-4D97-AF65-F5344CB8AC3E}">
        <p14:creationId xmlns:p14="http://schemas.microsoft.com/office/powerpoint/2010/main" val="36901799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Defense Against Trainwreck:</a:t>
            </a:r>
          </a:p>
          <a:p>
            <a:r>
              <a:rPr lang="en-US" dirty="0"/>
              <a:t>Defending against a Trainwreck attack involves a combination of techniques, such as:</a:t>
            </a:r>
          </a:p>
          <a:p>
            <a:pPr>
              <a:buFont typeface="Arial" panose="020B0604020202020204" pitchFamily="34" charset="0"/>
              <a:buChar char="•"/>
            </a:pPr>
            <a:r>
              <a:rPr lang="en-US" b="1" dirty="0"/>
              <a:t>Data sanitization</a:t>
            </a:r>
            <a:r>
              <a:rPr lang="en-US" dirty="0"/>
              <a:t>: Ensuring that the training data is free from adversarial perturbations.</a:t>
            </a:r>
          </a:p>
          <a:p>
            <a:pPr>
              <a:buFont typeface="Arial" panose="020B0604020202020204" pitchFamily="34" charset="0"/>
              <a:buChar char="•"/>
            </a:pPr>
            <a:r>
              <a:rPr lang="en-US" b="1" dirty="0"/>
              <a:t>Robust training techniques</a:t>
            </a:r>
            <a:r>
              <a:rPr lang="en-US" dirty="0"/>
              <a:t>: Training models with adversarial defenses, such as adversarial training, where the model is exposed to adversarial examples during training.</a:t>
            </a:r>
          </a:p>
          <a:p>
            <a:pPr>
              <a:buFont typeface="Arial" panose="020B0604020202020204" pitchFamily="34" charset="0"/>
              <a:buChar char="•"/>
            </a:pPr>
            <a:r>
              <a:rPr lang="en-US" b="1" dirty="0"/>
              <a:t>Model validation</a:t>
            </a:r>
            <a:r>
              <a:rPr lang="en-US" dirty="0"/>
              <a:t>: Using robust validation techniques that test the model's performance on various types of data, including adversarial inputs, to detect performance degradation early.</a:t>
            </a:r>
          </a:p>
          <a:p>
            <a:pPr>
              <a:buFont typeface="Arial" panose="020B0604020202020204" pitchFamily="34" charset="0"/>
              <a:buChar char="•"/>
            </a:pPr>
            <a:endParaRPr lang="en-US" dirty="0"/>
          </a:p>
          <a:p>
            <a:r>
              <a:rPr lang="en-US" b="0" dirty="0">
                <a:solidFill>
                  <a:srgbClr val="CCCCCC"/>
                </a:solidFill>
                <a:effectLst/>
                <a:latin typeface="Consolas" panose="020B0609020204030204" pitchFamily="49" charset="0"/>
              </a:rPr>
              <a:t>Trainwreck can be </a:t>
            </a:r>
            <a:r>
              <a:rPr lang="en-US" b="1" dirty="0">
                <a:solidFill>
                  <a:srgbClr val="569CD6"/>
                </a:solidFill>
                <a:effectLst/>
                <a:latin typeface="Consolas" panose="020B0609020204030204" pitchFamily="49" charset="0"/>
              </a:rPr>
              <a:t>__reliably defended__</a:t>
            </a:r>
            <a:r>
              <a:rPr lang="en-US" b="0" dirty="0">
                <a:solidFill>
                  <a:srgbClr val="CCCCCC"/>
                </a:solidFill>
                <a:effectLst/>
                <a:latin typeface="Consolas" panose="020B0609020204030204" pitchFamily="49" charset="0"/>
              </a:rPr>
              <a:t>, the method is explained in detail in Section 7 (Discussion &amp; defense) of the Trainwreck paper linked above. TLDR:</a:t>
            </a:r>
          </a:p>
          <a:p>
            <a:br>
              <a:rPr lang="en-US" b="0" dirty="0">
                <a:solidFill>
                  <a:srgbClr val="CCCCCC"/>
                </a:solidFill>
                <a:effectLst/>
                <a:latin typeface="Consolas" panose="020B0609020204030204" pitchFamily="49" charset="0"/>
              </a:rPr>
            </a:br>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a:t>
            </a:r>
            <a:r>
              <a:rPr lang="en-US" b="1" dirty="0">
                <a:solidFill>
                  <a:srgbClr val="569CD6"/>
                </a:solidFill>
                <a:effectLst/>
                <a:latin typeface="Consolas" panose="020B0609020204030204" pitchFamily="49" charset="0"/>
              </a:rPr>
              <a:t>__Data redundancy__</a:t>
            </a:r>
            <a:r>
              <a:rPr lang="en-US" b="0" dirty="0">
                <a:solidFill>
                  <a:srgbClr val="CCCCCC"/>
                </a:solidFill>
                <a:effectLst/>
                <a:latin typeface="Consolas" panose="020B0609020204030204" pitchFamily="49" charset="0"/>
              </a:rPr>
              <a:t> with proper access policies: have an authoritative, canonical copy that you know is clean somewhere it cannot be easily attacked.</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Compute </a:t>
            </a:r>
            <a:r>
              <a:rPr lang="en-US" b="1" dirty="0">
                <a:solidFill>
                  <a:srgbClr val="569CD6"/>
                </a:solidFill>
                <a:effectLst/>
                <a:latin typeface="Consolas" panose="020B0609020204030204" pitchFamily="49" charset="0"/>
              </a:rPr>
              <a:t>__file hashes__</a:t>
            </a:r>
            <a:r>
              <a:rPr lang="en-US" b="0" dirty="0">
                <a:solidFill>
                  <a:srgbClr val="CCCCCC"/>
                </a:solidFill>
                <a:effectLst/>
                <a:latin typeface="Consolas" panose="020B0609020204030204" pitchFamily="49" charset="0"/>
              </a:rPr>
              <a:t> of your canonical data using a strong hash. SHA-256, SHA-512 is alright. </a:t>
            </a:r>
            <a:r>
              <a:rPr lang="en-US" b="1" dirty="0">
                <a:solidFill>
                  <a:srgbClr val="569CD6"/>
                </a:solidFill>
                <a:effectLst/>
                <a:latin typeface="Consolas" panose="020B0609020204030204" pitchFamily="49" charset="0"/>
              </a:rPr>
              <a:t>__DO NOT__</a:t>
            </a:r>
            <a:r>
              <a:rPr lang="en-US" b="0" dirty="0">
                <a:solidFill>
                  <a:srgbClr val="CCCCCC"/>
                </a:solidFill>
                <a:effectLst/>
                <a:latin typeface="Consolas" panose="020B0609020204030204" pitchFamily="49" charset="0"/>
              </a:rPr>
              <a:t> use MD5.</a:t>
            </a:r>
          </a:p>
          <a:p>
            <a:r>
              <a:rPr lang="en-US" b="0" dirty="0">
                <a:solidFill>
                  <a:srgbClr val="6796E6"/>
                </a:solidFill>
                <a:effectLst/>
                <a:latin typeface="Consolas" panose="020B0609020204030204" pitchFamily="49" charset="0"/>
              </a:rPr>
              <a:t>*</a:t>
            </a:r>
            <a:r>
              <a:rPr lang="en-US" b="0" dirty="0">
                <a:solidFill>
                  <a:srgbClr val="CCCCCC"/>
                </a:solidFill>
                <a:effectLst/>
                <a:latin typeface="Consolas" panose="020B0609020204030204" pitchFamily="49" charset="0"/>
              </a:rPr>
              <a:t> If you suspect a train-time damaging adversarial attack, compare the training dataset file hashes with the canonical ones. If there is a mismatch, the dataset has likely been poisoned.</a:t>
            </a:r>
          </a:p>
          <a:p>
            <a:endParaRPr lang="en-US" dirty="0"/>
          </a:p>
        </p:txBody>
      </p:sp>
      <p:sp>
        <p:nvSpPr>
          <p:cNvPr id="4" name="Slide Number Placeholder 3"/>
          <p:cNvSpPr>
            <a:spLocks noGrp="1"/>
          </p:cNvSpPr>
          <p:nvPr>
            <p:ph type="sldNum" sz="quarter" idx="5"/>
          </p:nvPr>
        </p:nvSpPr>
        <p:spPr/>
        <p:txBody>
          <a:bodyPr/>
          <a:lstStyle/>
          <a:p>
            <a:fld id="{E688FF9F-1DFD-480E-A84A-EC7666508F13}" type="slidenum">
              <a:rPr lang="en-US" smtClean="0"/>
              <a:t>14</a:t>
            </a:fld>
            <a:endParaRPr lang="en-US"/>
          </a:p>
        </p:txBody>
      </p:sp>
    </p:spTree>
    <p:extLst>
      <p:ext uri="{BB962C8B-B14F-4D97-AF65-F5344CB8AC3E}">
        <p14:creationId xmlns:p14="http://schemas.microsoft.com/office/powerpoint/2010/main" val="152504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DDF4C-0706-096C-1585-89734CC7EC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D65ED8-3F88-F7EC-A7DD-63C8BC4FAE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6A80DA-CB19-88D0-9490-A29F9357C2E2}"/>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280A401F-CF76-C6A5-A65E-AE29D5CA67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DB5B0-96DF-1093-C145-5D443166641F}"/>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4251821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E414D-CCA7-3402-54E1-8973876644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6708CD-8189-155E-0BC7-6CD9B93119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2B4367-6451-7A54-CDE8-FABE9F99A37D}"/>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68359603-F780-C1A1-F8E9-971486E9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82D926-598C-7B88-04E3-0EDF90047B0A}"/>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838813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6E3E-CBEB-31FF-C4AE-6442BFFC87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386A90-2A55-879C-3F03-CBCE50805E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02400C-1048-8B9E-A77E-30B4F935ED87}"/>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60865A44-F312-E3B4-F984-6D56D79490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34F4D2-DA19-A4EC-21B4-8069B4ADD163}"/>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1531654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6986B-A9BC-2730-57BC-2C5E0563DD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05F3FB-4D29-C88B-B2F5-5C87E494EC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32C722-D7C2-27A8-8C38-93443862F5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4B74C5-9C4C-C4F8-7D7F-A3EB7E7E21D7}"/>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6" name="Footer Placeholder 5">
            <a:extLst>
              <a:ext uri="{FF2B5EF4-FFF2-40B4-BE49-F238E27FC236}">
                <a16:creationId xmlns:a16="http://schemas.microsoft.com/office/drawing/2014/main" id="{01F2137A-06A4-A7A5-F77C-5F9A5373E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EB389A-F218-5EE2-2C4B-940DB5B1454F}"/>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35070403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BFA27-9AE3-0F57-9FAC-8FF597427CC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1D6AD82-4D25-9092-C607-90AFBB63B8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3459C7-295B-B3EB-FF56-025E6F4D6A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BA6100-40A6-9DBD-1767-5880ABEE03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57BBE0-9516-38CF-7501-2D4FD3CDAB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BF430-640E-199C-BFCB-53D5DEADD69B}"/>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8" name="Footer Placeholder 7">
            <a:extLst>
              <a:ext uri="{FF2B5EF4-FFF2-40B4-BE49-F238E27FC236}">
                <a16:creationId xmlns:a16="http://schemas.microsoft.com/office/drawing/2014/main" id="{14C3E9AF-1EF5-52FA-20CE-9FCA69B27E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3987E1-FAF9-BF29-CFD1-47A69EB9A798}"/>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367102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C54F3-BC11-6A7C-427A-3F97D882F4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6A4EAC-5800-69F5-159F-64476D1B9A49}"/>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4" name="Footer Placeholder 3">
            <a:extLst>
              <a:ext uri="{FF2B5EF4-FFF2-40B4-BE49-F238E27FC236}">
                <a16:creationId xmlns:a16="http://schemas.microsoft.com/office/drawing/2014/main" id="{992BEFE4-4375-1348-28D0-7E34E3FE39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204FC5-DE75-D892-8F4F-C935DA324785}"/>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29064866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028703-3050-B8B7-5717-E4345699063F}"/>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3" name="Footer Placeholder 2">
            <a:extLst>
              <a:ext uri="{FF2B5EF4-FFF2-40B4-BE49-F238E27FC236}">
                <a16:creationId xmlns:a16="http://schemas.microsoft.com/office/drawing/2014/main" id="{64B410DC-DD0F-87B1-2B84-3029928A06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935D7A2-2766-7923-7C63-7C90BC4A6756}"/>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1205693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89A55-7CDB-687E-337B-67D001CD6F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EF26C06-4826-466B-6CAF-1E398AB250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BBF9F4-FD14-BA89-1914-464D61E2F5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37E018-6348-3866-4A4C-A2A69784F922}"/>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6" name="Footer Placeholder 5">
            <a:extLst>
              <a:ext uri="{FF2B5EF4-FFF2-40B4-BE49-F238E27FC236}">
                <a16:creationId xmlns:a16="http://schemas.microsoft.com/office/drawing/2014/main" id="{C913EBCD-FCC6-D2DB-3F68-2D72D22A7F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5EB429-E908-C50B-1A37-4C09F80ABD00}"/>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916409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5BCB1-EADB-1533-ED85-AB061CFC57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8BA25F-CD9B-04FB-37DA-5BA30F6F95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405DFE-C086-7993-6704-51D17F9C2F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39991F-FD5A-4BE7-30A3-015CEF1ED58C}"/>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6" name="Footer Placeholder 5">
            <a:extLst>
              <a:ext uri="{FF2B5EF4-FFF2-40B4-BE49-F238E27FC236}">
                <a16:creationId xmlns:a16="http://schemas.microsoft.com/office/drawing/2014/main" id="{194BA4C3-05DC-3553-6953-50A9CD47B0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3DC1FC-C504-F03C-D2DA-5B6D15DD4188}"/>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720473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90A6A-0DEE-3EF9-ED42-57BECCC99B4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00CC6A8-6CB2-52C5-E29F-2EDD13CD34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F07C73-4C3C-4C86-6DB2-A242CD49AAAA}"/>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E558B5F2-81D2-FA20-0979-92705B15AD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A0F95-FB81-B979-BE77-988238D31D26}"/>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428435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A29B0E-1DE5-991E-CEB4-7687B61089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0A4E10-E6AE-F280-2EFB-CCDD974162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03355-2098-41FA-5082-9905035E2ACD}"/>
              </a:ext>
            </a:extLst>
          </p:cNvPr>
          <p:cNvSpPr>
            <a:spLocks noGrp="1"/>
          </p:cNvSpPr>
          <p:nvPr>
            <p:ph type="dt" sz="half" idx="10"/>
          </p:nvPr>
        </p:nvSpPr>
        <p:spPr/>
        <p:txBody>
          <a:body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87B953AF-05B2-4DB7-FEE1-51E347F62E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45B21B-E4BA-2AFD-C3FA-6B66F3DC96B6}"/>
              </a:ext>
            </a:extLst>
          </p:cNvPr>
          <p:cNvSpPr>
            <a:spLocks noGrp="1"/>
          </p:cNvSpPr>
          <p:nvPr>
            <p:ph type="sldNum" sz="quarter" idx="12"/>
          </p:nvPr>
        </p:nvSpPr>
        <p:spPr/>
        <p:txBody>
          <a:bodyPr/>
          <a:lstStyle/>
          <a:p>
            <a:fld id="{CCCC2C48-985A-49D9-9C9F-45F9A7F09D79}" type="slidenum">
              <a:rPr lang="en-US" smtClean="0"/>
              <a:t>‹#›</a:t>
            </a:fld>
            <a:endParaRPr lang="en-US"/>
          </a:p>
        </p:txBody>
      </p:sp>
    </p:spTree>
    <p:extLst>
      <p:ext uri="{BB962C8B-B14F-4D97-AF65-F5344CB8AC3E}">
        <p14:creationId xmlns:p14="http://schemas.microsoft.com/office/powerpoint/2010/main" val="36806015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626632-2745-46EA-BBEF-98885AC54C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83DA07-BCBA-C7C3-805A-55214236E1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17CD41-6BC8-EF13-1FAB-1EDE89540A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427A993-2B3F-4120-830C-7558D6EF7A26}" type="datetimeFigureOut">
              <a:rPr lang="en-US" smtClean="0"/>
              <a:t>10/21/2024</a:t>
            </a:fld>
            <a:endParaRPr lang="en-US"/>
          </a:p>
        </p:txBody>
      </p:sp>
      <p:sp>
        <p:nvSpPr>
          <p:cNvPr id="5" name="Footer Placeholder 4">
            <a:extLst>
              <a:ext uri="{FF2B5EF4-FFF2-40B4-BE49-F238E27FC236}">
                <a16:creationId xmlns:a16="http://schemas.microsoft.com/office/drawing/2014/main" id="{B419F43F-16D9-148F-599C-CD407A1854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A5A6A96-77D1-5BDA-24E3-C920C2598EE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CC2C48-985A-49D9-9C9F-45F9A7F09D79}" type="slidenum">
              <a:rPr lang="en-US" smtClean="0"/>
              <a:t>‹#›</a:t>
            </a:fld>
            <a:endParaRPr lang="en-US"/>
          </a:p>
        </p:txBody>
      </p:sp>
    </p:spTree>
    <p:extLst>
      <p:ext uri="{BB962C8B-B14F-4D97-AF65-F5344CB8AC3E}">
        <p14:creationId xmlns:p14="http://schemas.microsoft.com/office/powerpoint/2010/main" val="34134392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81B99-D8F1-6F21-FB6B-31265C6A2C84}"/>
              </a:ext>
            </a:extLst>
          </p:cNvPr>
          <p:cNvSpPr>
            <a:spLocks noGrp="1"/>
          </p:cNvSpPr>
          <p:nvPr>
            <p:ph type="ctrTitle"/>
          </p:nvPr>
        </p:nvSpPr>
        <p:spPr>
          <a:xfrm>
            <a:off x="2870579" y="1282890"/>
            <a:ext cx="6450842" cy="1363805"/>
          </a:xfrm>
          <a:noFill/>
          <a:effectLst>
            <a:outerShdw blurRad="63500" sx="102000" sy="102000" algn="ctr" rotWithShape="0">
              <a:schemeClr val="accent5">
                <a:lumMod val="75000"/>
              </a:schemeClr>
            </a:outerShdw>
          </a:effectLst>
        </p:spPr>
        <p:txBody>
          <a:bodyPr anchor="ctr" anchorCtr="0">
            <a:spAutoFit/>
          </a:bodyPr>
          <a:lstStyle/>
          <a:p>
            <a:r>
              <a:rPr lang="en-US" sz="8800" b="1" dirty="0">
                <a:solidFill>
                  <a:schemeClr val="accent1">
                    <a:lumMod val="75000"/>
                  </a:schemeClr>
                </a:solidFill>
                <a:effectLst>
                  <a:outerShdw blurRad="177800" sx="109000" sy="109000" algn="ctr" rotWithShape="0">
                    <a:prstClr val="black"/>
                  </a:outerShdw>
                </a:effectLst>
                <a:latin typeface="DarkSurfer Base" pitchFamily="2" charset="0"/>
              </a:rPr>
              <a:t>Trainwreck</a:t>
            </a:r>
          </a:p>
        </p:txBody>
      </p:sp>
      <p:sp>
        <p:nvSpPr>
          <p:cNvPr id="3" name="Subtitle 2">
            <a:extLst>
              <a:ext uri="{FF2B5EF4-FFF2-40B4-BE49-F238E27FC236}">
                <a16:creationId xmlns:a16="http://schemas.microsoft.com/office/drawing/2014/main" id="{A3137915-41F1-5B36-0648-DB00BD7D1662}"/>
              </a:ext>
            </a:extLst>
          </p:cNvPr>
          <p:cNvSpPr>
            <a:spLocks noGrp="1"/>
          </p:cNvSpPr>
          <p:nvPr>
            <p:ph type="subTitle" idx="1"/>
          </p:nvPr>
        </p:nvSpPr>
        <p:spPr>
          <a:xfrm>
            <a:off x="1524000" y="4543733"/>
            <a:ext cx="9144000" cy="1655762"/>
          </a:xfrm>
        </p:spPr>
        <p:txBody>
          <a:bodyPr>
            <a:normAutofit/>
          </a:bodyPr>
          <a:lstStyle/>
          <a:p>
            <a:r>
              <a:rPr lang="en-US" sz="4000" b="1" dirty="0">
                <a:solidFill>
                  <a:schemeClr val="accent4">
                    <a:lumMod val="50000"/>
                  </a:schemeClr>
                </a:solidFill>
              </a:rPr>
              <a:t>A subtle data poisoning attack</a:t>
            </a:r>
          </a:p>
        </p:txBody>
      </p:sp>
    </p:spTree>
    <p:extLst>
      <p:ext uri="{BB962C8B-B14F-4D97-AF65-F5344CB8AC3E}">
        <p14:creationId xmlns:p14="http://schemas.microsoft.com/office/powerpoint/2010/main" val="1681260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3F703-24F1-2475-49CA-986556534525}"/>
              </a:ext>
            </a:extLst>
          </p:cNvPr>
          <p:cNvSpPr>
            <a:spLocks noGrp="1"/>
          </p:cNvSpPr>
          <p:nvPr>
            <p:ph type="title"/>
          </p:nvPr>
        </p:nvSpPr>
        <p:spPr/>
        <p:txBody>
          <a:bodyPr>
            <a:normAutofit/>
          </a:bodyPr>
          <a:lstStyle/>
          <a:p>
            <a:pPr algn="ctr"/>
            <a:r>
              <a:rPr lang="en-US" sz="5400" b="1" dirty="0">
                <a:solidFill>
                  <a:schemeClr val="accent3">
                    <a:lumMod val="50000"/>
                  </a:schemeClr>
                </a:solidFill>
              </a:rPr>
              <a:t>Key Features</a:t>
            </a:r>
          </a:p>
        </p:txBody>
      </p:sp>
      <p:sp>
        <p:nvSpPr>
          <p:cNvPr id="3" name="Content Placeholder 2">
            <a:extLst>
              <a:ext uri="{FF2B5EF4-FFF2-40B4-BE49-F238E27FC236}">
                <a16:creationId xmlns:a16="http://schemas.microsoft.com/office/drawing/2014/main" id="{FB40B0AE-11E7-52A5-B55C-CDA3BC204520}"/>
              </a:ext>
            </a:extLst>
          </p:cNvPr>
          <p:cNvSpPr>
            <a:spLocks noGrp="1"/>
          </p:cNvSpPr>
          <p:nvPr>
            <p:ph idx="1"/>
          </p:nvPr>
        </p:nvSpPr>
        <p:spPr/>
        <p:txBody>
          <a:bodyPr>
            <a:normAutofit/>
          </a:bodyPr>
          <a:lstStyle/>
          <a:p>
            <a:r>
              <a:rPr lang="en-US" sz="4300" b="1" dirty="0">
                <a:solidFill>
                  <a:schemeClr val="tx2">
                    <a:lumMod val="50000"/>
                  </a:schemeClr>
                </a:solidFill>
              </a:rPr>
              <a:t>Poisoning the Training Data</a:t>
            </a:r>
          </a:p>
          <a:p>
            <a:r>
              <a:rPr lang="en-US" sz="4300" b="1" dirty="0">
                <a:solidFill>
                  <a:schemeClr val="tx2">
                    <a:lumMod val="50000"/>
                  </a:schemeClr>
                </a:solidFill>
              </a:rPr>
              <a:t>Adversarial Perturbations</a:t>
            </a:r>
          </a:p>
          <a:p>
            <a:r>
              <a:rPr lang="en-US" sz="4300" b="1" dirty="0">
                <a:solidFill>
                  <a:schemeClr val="tx2">
                    <a:lumMod val="50000"/>
                  </a:schemeClr>
                </a:solidFill>
              </a:rPr>
              <a:t>Model Misclassification</a:t>
            </a:r>
          </a:p>
          <a:p>
            <a:r>
              <a:rPr lang="en-US" sz="4300" b="1" dirty="0">
                <a:solidFill>
                  <a:schemeClr val="tx2">
                    <a:lumMod val="50000"/>
                  </a:schemeClr>
                </a:solidFill>
              </a:rPr>
              <a:t>Stealthy</a:t>
            </a:r>
          </a:p>
          <a:p>
            <a:r>
              <a:rPr lang="en-US" sz="4300" b="1" dirty="0">
                <a:solidFill>
                  <a:schemeClr val="tx2">
                    <a:lumMod val="50000"/>
                  </a:schemeClr>
                </a:solidFill>
              </a:rPr>
              <a:t>Black-Box</a:t>
            </a:r>
          </a:p>
          <a:p>
            <a:r>
              <a:rPr lang="en-US" sz="4300" b="1" dirty="0">
                <a:solidFill>
                  <a:schemeClr val="tx2">
                    <a:lumMod val="50000"/>
                  </a:schemeClr>
                </a:solidFill>
              </a:rPr>
              <a:t>Transferable</a:t>
            </a:r>
            <a:endParaRPr lang="en-US" sz="4000" b="1" dirty="0">
              <a:solidFill>
                <a:schemeClr val="tx2">
                  <a:lumMod val="50000"/>
                </a:schemeClr>
              </a:solidFill>
            </a:endParaRPr>
          </a:p>
        </p:txBody>
      </p:sp>
    </p:spTree>
    <p:extLst>
      <p:ext uri="{BB962C8B-B14F-4D97-AF65-F5344CB8AC3E}">
        <p14:creationId xmlns:p14="http://schemas.microsoft.com/office/powerpoint/2010/main" val="4278267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p:txBody>
          <a:bodyPr>
            <a:normAutofit/>
          </a:bodyPr>
          <a:lstStyle/>
          <a:p>
            <a:pPr algn="ctr"/>
            <a:r>
              <a:rPr lang="en-US" sz="4800" b="1" dirty="0">
                <a:solidFill>
                  <a:schemeClr val="accent3">
                    <a:lumMod val="50000"/>
                  </a:schemeClr>
                </a:solidFill>
              </a:rPr>
              <a:t>Steps to </a:t>
            </a:r>
            <a:r>
              <a:rPr lang="en-US" sz="5400" b="1" dirty="0">
                <a:solidFill>
                  <a:schemeClr val="accent3">
                    <a:lumMod val="50000"/>
                  </a:schemeClr>
                </a:solidFill>
              </a:rPr>
              <a:t>Perform</a:t>
            </a:r>
            <a:r>
              <a:rPr lang="en-US" sz="4800" b="1" dirty="0">
                <a:solidFill>
                  <a:schemeClr val="accent3">
                    <a:lumMod val="50000"/>
                  </a:schemeClr>
                </a:solidFill>
              </a:rPr>
              <a:t> Trainwreck Attack</a:t>
            </a:r>
          </a:p>
        </p:txBody>
      </p:sp>
      <p:sp>
        <p:nvSpPr>
          <p:cNvPr id="3" name="Content Placeholder 2">
            <a:extLst>
              <a:ext uri="{FF2B5EF4-FFF2-40B4-BE49-F238E27FC236}">
                <a16:creationId xmlns:a16="http://schemas.microsoft.com/office/drawing/2014/main" id="{4BF3C362-D791-70CC-6CD9-44758AE53868}"/>
              </a:ext>
            </a:extLst>
          </p:cNvPr>
          <p:cNvSpPr>
            <a:spLocks noGrp="1"/>
          </p:cNvSpPr>
          <p:nvPr>
            <p:ph idx="1"/>
          </p:nvPr>
        </p:nvSpPr>
        <p:spPr/>
        <p:txBody>
          <a:bodyPr>
            <a:normAutofit/>
          </a:bodyPr>
          <a:lstStyle/>
          <a:p>
            <a:r>
              <a:rPr lang="en-US" sz="4000" b="1" dirty="0">
                <a:solidFill>
                  <a:schemeClr val="tx2">
                    <a:lumMod val="50000"/>
                  </a:schemeClr>
                </a:solidFill>
              </a:rPr>
              <a:t>Dataset Poisoning</a:t>
            </a:r>
          </a:p>
          <a:p>
            <a:r>
              <a:rPr lang="en-US" sz="4000" b="1" dirty="0">
                <a:solidFill>
                  <a:schemeClr val="tx2">
                    <a:lumMod val="50000"/>
                  </a:schemeClr>
                </a:solidFill>
              </a:rPr>
              <a:t>Model Training on Poisoned Data</a:t>
            </a:r>
          </a:p>
          <a:p>
            <a:r>
              <a:rPr lang="en-US" sz="4000" b="1" dirty="0">
                <a:solidFill>
                  <a:schemeClr val="tx2">
                    <a:lumMod val="50000"/>
                  </a:schemeClr>
                </a:solidFill>
              </a:rPr>
              <a:t>Training and Validation</a:t>
            </a:r>
          </a:p>
          <a:p>
            <a:r>
              <a:rPr lang="en-US" sz="4000" b="1" dirty="0">
                <a:solidFill>
                  <a:schemeClr val="tx2">
                    <a:lumMod val="50000"/>
                  </a:schemeClr>
                </a:solidFill>
              </a:rPr>
              <a:t>Deployment</a:t>
            </a:r>
          </a:p>
          <a:p>
            <a:r>
              <a:rPr lang="en-US" sz="4000" b="1" dirty="0">
                <a:solidFill>
                  <a:schemeClr val="tx2">
                    <a:lumMod val="50000"/>
                  </a:schemeClr>
                </a:solidFill>
              </a:rPr>
              <a:t>Exploitation</a:t>
            </a:r>
          </a:p>
        </p:txBody>
      </p:sp>
    </p:spTree>
    <p:extLst>
      <p:ext uri="{BB962C8B-B14F-4D97-AF65-F5344CB8AC3E}">
        <p14:creationId xmlns:p14="http://schemas.microsoft.com/office/powerpoint/2010/main" val="271329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p:txBody>
          <a:bodyPr>
            <a:normAutofit/>
          </a:bodyPr>
          <a:lstStyle/>
          <a:p>
            <a:pPr algn="ctr"/>
            <a:r>
              <a:rPr lang="en-US" sz="5400" b="1" dirty="0">
                <a:solidFill>
                  <a:schemeClr val="accent3">
                    <a:lumMod val="50000"/>
                  </a:schemeClr>
                </a:solidFill>
              </a:rPr>
              <a:t>Implications</a:t>
            </a:r>
          </a:p>
        </p:txBody>
      </p:sp>
      <p:sp>
        <p:nvSpPr>
          <p:cNvPr id="3" name="Content Placeholder 2">
            <a:extLst>
              <a:ext uri="{FF2B5EF4-FFF2-40B4-BE49-F238E27FC236}">
                <a16:creationId xmlns:a16="http://schemas.microsoft.com/office/drawing/2014/main" id="{4BF3C362-D791-70CC-6CD9-44758AE53868}"/>
              </a:ext>
            </a:extLst>
          </p:cNvPr>
          <p:cNvSpPr>
            <a:spLocks noGrp="1"/>
          </p:cNvSpPr>
          <p:nvPr>
            <p:ph idx="1"/>
          </p:nvPr>
        </p:nvSpPr>
        <p:spPr/>
        <p:txBody>
          <a:bodyPr>
            <a:normAutofit/>
          </a:bodyPr>
          <a:lstStyle/>
          <a:p>
            <a:r>
              <a:rPr lang="en-US" sz="4000" b="1" dirty="0">
                <a:solidFill>
                  <a:schemeClr val="tx2">
                    <a:lumMod val="50000"/>
                  </a:schemeClr>
                </a:solidFill>
              </a:rPr>
              <a:t>Cybersecurity</a:t>
            </a:r>
          </a:p>
          <a:p>
            <a:r>
              <a:rPr lang="en-US" sz="4000" b="1" dirty="0">
                <a:solidFill>
                  <a:schemeClr val="tx2">
                    <a:lumMod val="50000"/>
                  </a:schemeClr>
                </a:solidFill>
              </a:rPr>
              <a:t>Autonomous Driving</a:t>
            </a:r>
          </a:p>
          <a:p>
            <a:r>
              <a:rPr lang="en-US" sz="4000" b="1" dirty="0">
                <a:solidFill>
                  <a:schemeClr val="tx2">
                    <a:lumMod val="50000"/>
                  </a:schemeClr>
                </a:solidFill>
              </a:rPr>
              <a:t>Facial Recognition</a:t>
            </a:r>
          </a:p>
          <a:p>
            <a:r>
              <a:rPr lang="en-US" sz="4000" b="1" dirty="0">
                <a:solidFill>
                  <a:schemeClr val="tx2">
                    <a:lumMod val="50000"/>
                  </a:schemeClr>
                </a:solidFill>
              </a:rPr>
              <a:t>Healthcare</a:t>
            </a:r>
          </a:p>
        </p:txBody>
      </p:sp>
    </p:spTree>
    <p:extLst>
      <p:ext uri="{BB962C8B-B14F-4D97-AF65-F5344CB8AC3E}">
        <p14:creationId xmlns:p14="http://schemas.microsoft.com/office/powerpoint/2010/main" val="32456904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p:txBody>
          <a:bodyPr>
            <a:normAutofit/>
          </a:bodyPr>
          <a:lstStyle/>
          <a:p>
            <a:pPr algn="ctr"/>
            <a:r>
              <a:rPr lang="en-US" sz="5400" b="1" dirty="0">
                <a:solidFill>
                  <a:schemeClr val="accent3">
                    <a:lumMod val="50000"/>
                  </a:schemeClr>
                </a:solidFill>
              </a:rPr>
              <a:t>Demonstration</a:t>
            </a:r>
          </a:p>
        </p:txBody>
      </p:sp>
      <p:sp>
        <p:nvSpPr>
          <p:cNvPr id="3" name="Content Placeholder 2">
            <a:extLst>
              <a:ext uri="{FF2B5EF4-FFF2-40B4-BE49-F238E27FC236}">
                <a16:creationId xmlns:a16="http://schemas.microsoft.com/office/drawing/2014/main" id="{4BF3C362-D791-70CC-6CD9-44758AE53868}"/>
              </a:ext>
            </a:extLst>
          </p:cNvPr>
          <p:cNvSpPr>
            <a:spLocks noGrp="1"/>
          </p:cNvSpPr>
          <p:nvPr>
            <p:ph idx="1"/>
          </p:nvPr>
        </p:nvSpPr>
        <p:spPr/>
        <p:txBody>
          <a:bodyPr>
            <a:normAutofit/>
          </a:bodyPr>
          <a:lstStyle/>
          <a:p>
            <a:pPr marL="0" indent="0" algn="ctr">
              <a:buNone/>
            </a:pPr>
            <a:r>
              <a:rPr lang="en-US" sz="4000" b="1" dirty="0">
                <a:solidFill>
                  <a:schemeClr val="tx2">
                    <a:lumMod val="50000"/>
                  </a:schemeClr>
                </a:solidFill>
              </a:rPr>
              <a:t>Due to how long it takes to run – I will not demo in class, however, I can later if anyone would like.</a:t>
            </a:r>
          </a:p>
        </p:txBody>
      </p:sp>
    </p:spTree>
    <p:extLst>
      <p:ext uri="{BB962C8B-B14F-4D97-AF65-F5344CB8AC3E}">
        <p14:creationId xmlns:p14="http://schemas.microsoft.com/office/powerpoint/2010/main" val="31773558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p:txBody>
          <a:bodyPr>
            <a:normAutofit/>
          </a:bodyPr>
          <a:lstStyle/>
          <a:p>
            <a:pPr algn="ctr"/>
            <a:r>
              <a:rPr lang="en-US" sz="5400" b="1" dirty="0">
                <a:solidFill>
                  <a:schemeClr val="accent3">
                    <a:lumMod val="50000"/>
                  </a:schemeClr>
                </a:solidFill>
              </a:rPr>
              <a:t>Required Libraries</a:t>
            </a:r>
          </a:p>
        </p:txBody>
      </p:sp>
      <p:sp>
        <p:nvSpPr>
          <p:cNvPr id="3" name="Content Placeholder 2">
            <a:extLst>
              <a:ext uri="{FF2B5EF4-FFF2-40B4-BE49-F238E27FC236}">
                <a16:creationId xmlns:a16="http://schemas.microsoft.com/office/drawing/2014/main" id="{4BF3C362-D791-70CC-6CD9-44758AE53868}"/>
              </a:ext>
            </a:extLst>
          </p:cNvPr>
          <p:cNvSpPr>
            <a:spLocks noGrp="1"/>
          </p:cNvSpPr>
          <p:nvPr>
            <p:ph idx="1"/>
          </p:nvPr>
        </p:nvSpPr>
        <p:spPr/>
        <p:txBody>
          <a:bodyPr>
            <a:normAutofit/>
          </a:bodyPr>
          <a:lstStyle/>
          <a:p>
            <a:pPr marL="0" indent="0" algn="ctr">
              <a:buNone/>
            </a:pPr>
            <a:r>
              <a:rPr lang="en-US" sz="4000" b="1" dirty="0" err="1">
                <a:solidFill>
                  <a:schemeClr val="tx2">
                    <a:lumMod val="50000"/>
                  </a:schemeClr>
                </a:solidFill>
              </a:rPr>
              <a:t>cleverhans</a:t>
            </a:r>
            <a:endParaRPr lang="en-US" sz="4000" b="1" dirty="0">
              <a:solidFill>
                <a:schemeClr val="tx2">
                  <a:lumMod val="50000"/>
                </a:schemeClr>
              </a:solidFill>
            </a:endParaRPr>
          </a:p>
          <a:p>
            <a:pPr marL="0" indent="0" algn="ctr">
              <a:buNone/>
            </a:pPr>
            <a:r>
              <a:rPr lang="en-US" sz="4000" b="1" dirty="0" err="1">
                <a:solidFill>
                  <a:schemeClr val="tx2">
                    <a:lumMod val="50000"/>
                  </a:schemeClr>
                </a:solidFill>
              </a:rPr>
              <a:t>scipy</a:t>
            </a:r>
            <a:endParaRPr lang="en-US" sz="4000" b="1" dirty="0">
              <a:solidFill>
                <a:schemeClr val="tx2">
                  <a:lumMod val="50000"/>
                </a:schemeClr>
              </a:solidFill>
            </a:endParaRPr>
          </a:p>
          <a:p>
            <a:pPr marL="0" indent="0" algn="ctr">
              <a:buNone/>
            </a:pPr>
            <a:r>
              <a:rPr lang="en-US" sz="4000" b="1" dirty="0" err="1">
                <a:solidFill>
                  <a:schemeClr val="tx2">
                    <a:lumMod val="50000"/>
                  </a:schemeClr>
                </a:solidFill>
              </a:rPr>
              <a:t>timm</a:t>
            </a:r>
            <a:endParaRPr lang="en-US" sz="4000" b="1" dirty="0">
              <a:solidFill>
                <a:schemeClr val="tx2">
                  <a:lumMod val="50000"/>
                </a:schemeClr>
              </a:solidFill>
            </a:endParaRPr>
          </a:p>
          <a:p>
            <a:pPr marL="0" indent="0" algn="ctr">
              <a:buNone/>
            </a:pPr>
            <a:r>
              <a:rPr lang="en-US" sz="4000" b="1" dirty="0" err="1">
                <a:solidFill>
                  <a:schemeClr val="tx2">
                    <a:lumMod val="50000"/>
                  </a:schemeClr>
                </a:solidFill>
              </a:rPr>
              <a:t>tqdm</a:t>
            </a:r>
            <a:endParaRPr lang="en-US" sz="4000" b="1" dirty="0">
              <a:solidFill>
                <a:schemeClr val="tx2">
                  <a:lumMod val="50000"/>
                </a:schemeClr>
              </a:solidFill>
            </a:endParaRPr>
          </a:p>
          <a:p>
            <a:pPr marL="0" indent="0" algn="ctr">
              <a:buNone/>
            </a:pPr>
            <a:r>
              <a:rPr lang="en-US" sz="4000" b="1" dirty="0">
                <a:solidFill>
                  <a:schemeClr val="tx2">
                    <a:lumMod val="50000"/>
                  </a:schemeClr>
                </a:solidFill>
              </a:rPr>
              <a:t>torch (with CUDA)</a:t>
            </a:r>
          </a:p>
          <a:p>
            <a:pPr marL="0" indent="0" algn="ctr">
              <a:buNone/>
            </a:pPr>
            <a:r>
              <a:rPr lang="en-US" sz="4000" b="1" dirty="0" err="1">
                <a:solidFill>
                  <a:schemeClr val="tx2">
                    <a:lumMod val="50000"/>
                  </a:schemeClr>
                </a:solidFill>
              </a:rPr>
              <a:t>torchvision</a:t>
            </a:r>
            <a:endParaRPr lang="en-US" sz="4000" b="1" dirty="0">
              <a:solidFill>
                <a:schemeClr val="tx2">
                  <a:lumMod val="50000"/>
                </a:schemeClr>
              </a:solidFill>
            </a:endParaRPr>
          </a:p>
        </p:txBody>
      </p:sp>
      <p:sp>
        <p:nvSpPr>
          <p:cNvPr id="6" name="TextBox 5">
            <a:extLst>
              <a:ext uri="{FF2B5EF4-FFF2-40B4-BE49-F238E27FC236}">
                <a16:creationId xmlns:a16="http://schemas.microsoft.com/office/drawing/2014/main" id="{866222D6-60B0-15D1-37B4-C2E423DEAD6B}"/>
              </a:ext>
            </a:extLst>
          </p:cNvPr>
          <p:cNvSpPr txBox="1"/>
          <p:nvPr/>
        </p:nvSpPr>
        <p:spPr>
          <a:xfrm>
            <a:off x="3780173" y="5843637"/>
            <a:ext cx="4883837" cy="954107"/>
          </a:xfrm>
          <a:prstGeom prst="rect">
            <a:avLst/>
          </a:prstGeom>
          <a:noFill/>
        </p:spPr>
        <p:txBody>
          <a:bodyPr wrap="none" rtlCol="0">
            <a:spAutoFit/>
          </a:bodyPr>
          <a:lstStyle/>
          <a:p>
            <a:pPr algn="ctr"/>
            <a:r>
              <a:rPr lang="en-US" sz="2800" dirty="0"/>
              <a:t>pip install -r requirements.txt</a:t>
            </a:r>
          </a:p>
          <a:p>
            <a:pPr algn="ctr"/>
            <a:r>
              <a:rPr lang="en-US" sz="2800" dirty="0"/>
              <a:t>https://pytorch.org/get-started</a:t>
            </a:r>
          </a:p>
        </p:txBody>
      </p:sp>
    </p:spTree>
    <p:extLst>
      <p:ext uri="{BB962C8B-B14F-4D97-AF65-F5344CB8AC3E}">
        <p14:creationId xmlns:p14="http://schemas.microsoft.com/office/powerpoint/2010/main" val="2601782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sp>
        <p:nvSpPr>
          <p:cNvPr id="9" name="TextBox 8">
            <a:extLst>
              <a:ext uri="{FF2B5EF4-FFF2-40B4-BE49-F238E27FC236}">
                <a16:creationId xmlns:a16="http://schemas.microsoft.com/office/drawing/2014/main" id="{35907A9A-56E1-FEC7-57E5-EB76FEAA165A}"/>
              </a:ext>
            </a:extLst>
          </p:cNvPr>
          <p:cNvSpPr txBox="1"/>
          <p:nvPr/>
        </p:nvSpPr>
        <p:spPr>
          <a:xfrm>
            <a:off x="83775" y="1325563"/>
            <a:ext cx="12024446" cy="584775"/>
          </a:xfrm>
          <a:prstGeom prst="rect">
            <a:avLst/>
          </a:prstGeom>
          <a:noFill/>
        </p:spPr>
        <p:txBody>
          <a:bodyPr wrap="none" rtlCol="0">
            <a:spAutoFit/>
          </a:bodyPr>
          <a:lstStyle/>
          <a:p>
            <a:r>
              <a:rPr lang="en-US" sz="3200" b="1" dirty="0">
                <a:solidFill>
                  <a:schemeClr val="tx2">
                    <a:lumMod val="50000"/>
                  </a:schemeClr>
                </a:solidFill>
              </a:rPr>
              <a:t>Steps to perform the Trainwreck Attack (using CIFAR-10 dataset)</a:t>
            </a:r>
          </a:p>
        </p:txBody>
      </p:sp>
      <p:sp>
        <p:nvSpPr>
          <p:cNvPr id="11" name="TextBox 10">
            <a:extLst>
              <a:ext uri="{FF2B5EF4-FFF2-40B4-BE49-F238E27FC236}">
                <a16:creationId xmlns:a16="http://schemas.microsoft.com/office/drawing/2014/main" id="{0D5CAB08-9B9A-8157-4ED1-97EAC16B9724}"/>
              </a:ext>
            </a:extLst>
          </p:cNvPr>
          <p:cNvSpPr txBox="1"/>
          <p:nvPr/>
        </p:nvSpPr>
        <p:spPr>
          <a:xfrm>
            <a:off x="2779930" y="2582946"/>
            <a:ext cx="6632137" cy="2862322"/>
          </a:xfrm>
          <a:prstGeom prst="rect">
            <a:avLst/>
          </a:prstGeom>
          <a:noFill/>
        </p:spPr>
        <p:txBody>
          <a:bodyPr wrap="none" rtlCol="0">
            <a:spAutoFit/>
          </a:bodyPr>
          <a:lstStyle/>
          <a:p>
            <a:pPr marL="342900" indent="-342900" algn="ctr">
              <a:buAutoNum type="arabicPeriod"/>
            </a:pPr>
            <a:r>
              <a:rPr lang="en-US" sz="3600" b="1" dirty="0">
                <a:solidFill>
                  <a:schemeClr val="tx2">
                    <a:lumMod val="50000"/>
                  </a:schemeClr>
                </a:solidFill>
              </a:rPr>
              <a:t>Feature Extraction – Optional</a:t>
            </a:r>
          </a:p>
          <a:p>
            <a:pPr marL="342900" indent="-342900" algn="ctr">
              <a:buAutoNum type="arabicPeriod"/>
            </a:pPr>
            <a:r>
              <a:rPr lang="en-US" sz="3600" b="1" dirty="0">
                <a:solidFill>
                  <a:schemeClr val="tx2">
                    <a:lumMod val="50000"/>
                  </a:schemeClr>
                </a:solidFill>
              </a:rPr>
              <a:t>Training the Surrogate Model</a:t>
            </a:r>
          </a:p>
          <a:p>
            <a:pPr marL="342900" indent="-342900" algn="ctr">
              <a:buAutoNum type="arabicPeriod"/>
            </a:pPr>
            <a:r>
              <a:rPr lang="en-US" sz="3600" b="1" dirty="0">
                <a:solidFill>
                  <a:schemeClr val="tx2">
                    <a:lumMod val="50000"/>
                  </a:schemeClr>
                </a:solidFill>
              </a:rPr>
              <a:t>Crafting the Attack</a:t>
            </a:r>
          </a:p>
          <a:p>
            <a:pPr marL="342900" indent="-342900" algn="ctr">
              <a:buAutoNum type="arabicPeriod"/>
            </a:pPr>
            <a:r>
              <a:rPr lang="en-US" sz="3600" b="1" dirty="0">
                <a:solidFill>
                  <a:schemeClr val="tx2">
                    <a:lumMod val="50000"/>
                  </a:schemeClr>
                </a:solidFill>
              </a:rPr>
              <a:t>Executing the Attack</a:t>
            </a:r>
          </a:p>
          <a:p>
            <a:pPr marL="342900" indent="-342900" algn="ctr">
              <a:buAutoNum type="arabicPeriod"/>
            </a:pPr>
            <a:r>
              <a:rPr lang="en-US" sz="3600" b="1" dirty="0">
                <a:solidFill>
                  <a:schemeClr val="tx2">
                    <a:lumMod val="50000"/>
                  </a:schemeClr>
                </a:solidFill>
              </a:rPr>
              <a:t>Results Analysis</a:t>
            </a:r>
          </a:p>
        </p:txBody>
      </p:sp>
      <p:pic>
        <p:nvPicPr>
          <p:cNvPr id="5" name="woody-waterhole">
            <a:hlinkClick r:id="" action="ppaction://media"/>
            <a:extLst>
              <a:ext uri="{FF2B5EF4-FFF2-40B4-BE49-F238E27FC236}">
                <a16:creationId xmlns:a16="http://schemas.microsoft.com/office/drawing/2014/main" id="{0526A0DB-4434-B71C-3F9F-5E9B32CFEB7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791198" y="5532437"/>
            <a:ext cx="609600" cy="609600"/>
          </a:xfrm>
          <a:prstGeom prst="rect">
            <a:avLst/>
          </a:prstGeom>
        </p:spPr>
      </p:pic>
    </p:spTree>
    <p:extLst>
      <p:ext uri="{BB962C8B-B14F-4D97-AF65-F5344CB8AC3E}">
        <p14:creationId xmlns:p14="http://schemas.microsoft.com/office/powerpoint/2010/main" val="382991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5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5907A9A-56E1-FEC7-57E5-EB76FEAA165A}"/>
              </a:ext>
            </a:extLst>
          </p:cNvPr>
          <p:cNvSpPr txBox="1"/>
          <p:nvPr/>
        </p:nvSpPr>
        <p:spPr>
          <a:xfrm>
            <a:off x="1" y="0"/>
            <a:ext cx="12192000" cy="686341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CE9178"/>
                </a:solidFill>
                <a:effectLst/>
                <a:latin typeface="Consolas" panose="020B0609020204030204" pitchFamily="49" charset="0"/>
              </a:rPr>
              <a:t>python feature_extraction.py &lt;DATASET_ID&gt; --</a:t>
            </a:r>
            <a:r>
              <a:rPr lang="en-US" sz="2000" b="0" dirty="0" err="1">
                <a:solidFill>
                  <a:srgbClr val="CE9178"/>
                </a:solidFill>
                <a:effectLst/>
                <a:latin typeface="Consolas" panose="020B0609020204030204" pitchFamily="49" charset="0"/>
              </a:rPr>
              <a:t>batch_size</a:t>
            </a:r>
            <a:r>
              <a:rPr lang="en-US" sz="2000" b="0" dirty="0">
                <a:solidFill>
                  <a:srgbClr val="CE9178"/>
                </a:solidFill>
                <a:effectLst/>
                <a:latin typeface="Consolas" panose="020B0609020204030204" pitchFamily="49" charset="0"/>
              </a:rPr>
              <a:t> &lt;BATCH_SIZE&gt;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CE9178"/>
                </a:solidFill>
                <a:effectLst/>
                <a:latin typeface="Consolas" panose="020B0609020204030204" pitchFamily="49" charset="0"/>
              </a:rPr>
              <a:t>python attack_and_train.py clean &lt;DATASET_ID&gt; surrogate --</a:t>
            </a:r>
            <a:r>
              <a:rPr lang="en-US" sz="2000" b="0" dirty="0" err="1">
                <a:solidFill>
                  <a:srgbClr val="CE9178"/>
                </a:solidFill>
                <a:effectLst/>
                <a:latin typeface="Consolas" panose="020B0609020204030204" pitchFamily="49" charset="0"/>
              </a:rPr>
              <a:t>batch_size</a:t>
            </a:r>
            <a:r>
              <a:rPr lang="en-US" sz="2000" b="0" dirty="0">
                <a:solidFill>
                  <a:srgbClr val="CE9178"/>
                </a:solidFill>
                <a:effectLst/>
                <a:latin typeface="Consolas" panose="020B0609020204030204" pitchFamily="49" charset="0"/>
              </a:rPr>
              <a:t> &lt;BATCH_SIZE&gt; --	</a:t>
            </a:r>
            <a:r>
              <a:rPr lang="en-US" sz="2000" b="0" dirty="0" err="1">
                <a:solidFill>
                  <a:srgbClr val="CE9178"/>
                </a:solidFill>
                <a:effectLst/>
                <a:latin typeface="Consolas" panose="020B0609020204030204" pitchFamily="49" charset="0"/>
              </a:rPr>
              <a:t>n_epochs</a:t>
            </a:r>
            <a:r>
              <a:rPr lang="en-US" sz="2000" b="0" dirty="0">
                <a:solidFill>
                  <a:srgbClr val="CE9178"/>
                </a:solidFill>
                <a:effectLst/>
                <a:latin typeface="Consolas" panose="020B0609020204030204" pitchFamily="49" charset="0"/>
              </a:rPr>
              <a:t> &lt;N_EPOCHS&gt;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CE9178"/>
                </a:solidFill>
                <a:effectLst/>
                <a:latin typeface="Consolas" panose="020B0609020204030204" pitchFamily="49" charset="0"/>
              </a:rPr>
              <a:t>python craft_attack.py &lt;ATTACK_METHOD&gt; &lt;DATASET_ID&gt; &lt;POISON_RATE&gt; --</a:t>
            </a:r>
            <a:r>
              <a:rPr lang="en-US" sz="2000" b="0" dirty="0" err="1">
                <a:solidFill>
                  <a:srgbClr val="CE9178"/>
                </a:solidFill>
                <a:effectLst/>
                <a:latin typeface="Consolas" panose="020B0609020204030204" pitchFamily="49" charset="0"/>
              </a:rPr>
              <a:t>epsilon_px</a:t>
            </a:r>
            <a:r>
              <a:rPr lang="en-US" sz="2000" b="0" dirty="0">
                <a:solidFill>
                  <a:srgbClr val="CE9178"/>
                </a:solidFill>
                <a:effectLst/>
                <a:latin typeface="Consolas" panose="020B0609020204030204" pitchFamily="49" charset="0"/>
              </a:rPr>
              <a:t> &lt;EPS&gt;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CE9178"/>
                </a:solidFill>
                <a:effectLst/>
                <a:latin typeface="Consolas" panose="020B0609020204030204" pitchFamily="49" charset="0"/>
              </a:rPr>
              <a:t>python attack_and_train.py &lt;ATTACK_METHOD&gt; &lt;DATASET_ID&gt; &lt;TARGET_MODEL&gt; --</a:t>
            </a:r>
            <a:r>
              <a:rPr lang="en-US" sz="2000" b="0" dirty="0" err="1">
                <a:solidFill>
                  <a:srgbClr val="CE9178"/>
                </a:solidFill>
                <a:effectLst/>
                <a:latin typeface="Consolas" panose="020B0609020204030204" pitchFamily="49" charset="0"/>
              </a:rPr>
              <a:t>poison_rate</a:t>
            </a:r>
            <a:r>
              <a:rPr lang="en-US" sz="2000" b="0" dirty="0">
                <a:solidFill>
                  <a:srgbClr val="CE9178"/>
                </a:solidFill>
                <a:effectLst/>
                <a:latin typeface="Consolas" panose="020B0609020204030204" pitchFamily="49" charset="0"/>
              </a:rPr>
              <a:t> 	&lt;PI&gt; --</a:t>
            </a:r>
            <a:r>
              <a:rPr lang="en-US" sz="2000" b="0" dirty="0" err="1">
                <a:solidFill>
                  <a:srgbClr val="CE9178"/>
                </a:solidFill>
                <a:effectLst/>
                <a:latin typeface="Consolas" panose="020B0609020204030204" pitchFamily="49" charset="0"/>
              </a:rPr>
              <a:t>epsilon_px</a:t>
            </a:r>
            <a:r>
              <a:rPr lang="en-US" sz="2000" b="0" dirty="0">
                <a:solidFill>
                  <a:srgbClr val="CE9178"/>
                </a:solidFill>
                <a:effectLst/>
                <a:latin typeface="Consolas" panose="020B0609020204030204" pitchFamily="49" charset="0"/>
              </a:rPr>
              <a:t> &lt;EPS&gt; --</a:t>
            </a:r>
            <a:r>
              <a:rPr lang="en-US" sz="2000" b="0" dirty="0" err="1">
                <a:solidFill>
                  <a:srgbClr val="CE9178"/>
                </a:solidFill>
                <a:effectLst/>
                <a:latin typeface="Consolas" panose="020B0609020204030204" pitchFamily="49" charset="0"/>
              </a:rPr>
              <a:t>batch_size</a:t>
            </a:r>
            <a:r>
              <a:rPr lang="en-US" sz="2000" b="0" dirty="0">
                <a:solidFill>
                  <a:srgbClr val="CE9178"/>
                </a:solidFill>
                <a:effectLst/>
                <a:latin typeface="Consolas" panose="020B0609020204030204" pitchFamily="49" charset="0"/>
              </a:rPr>
              <a:t> &lt;BATCH_SIZE&gt; --</a:t>
            </a:r>
            <a:r>
              <a:rPr lang="en-US" sz="2000" b="0" dirty="0" err="1">
                <a:solidFill>
                  <a:srgbClr val="CE9178"/>
                </a:solidFill>
                <a:effectLst/>
                <a:latin typeface="Consolas" panose="020B0609020204030204" pitchFamily="49" charset="0"/>
              </a:rPr>
              <a:t>n_epochs</a:t>
            </a:r>
            <a:r>
              <a:rPr lang="en-US" sz="2000" b="0" dirty="0">
                <a:solidFill>
                  <a:srgbClr val="CE9178"/>
                </a:solidFill>
                <a:effectLst/>
                <a:latin typeface="Consolas" panose="020B0609020204030204" pitchFamily="49" charset="0"/>
              </a:rPr>
              <a:t> &lt;N_EPOCHS&gt;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solidFill>
                  <a:srgbClr val="CE9178"/>
                </a:solidFill>
                <a:effectLst/>
                <a:latin typeface="Consolas" panose="020B0609020204030204" pitchFamily="49" charset="0"/>
              </a:rPr>
              <a:t>python results_analysis.py</a:t>
            </a:r>
          </a:p>
          <a:p>
            <a:pPr marL="342900" indent="-342900">
              <a:buFont typeface="Arial" panose="020B0604020202020204" pitchFamily="34" charset="0"/>
              <a:buChar char="•"/>
            </a:pPr>
            <a:r>
              <a:rPr lang="en-US" sz="2000" b="0" dirty="0">
                <a:solidFill>
                  <a:srgbClr val="CE9178"/>
                </a:solidFill>
                <a:effectLst/>
                <a:latin typeface="Consolas" panose="020B0609020204030204" pitchFamily="49" charset="0"/>
              </a:rPr>
              <a:t>&lt;DATASET_ID&gt;</a:t>
            </a:r>
            <a:r>
              <a:rPr lang="en-US" sz="2000" b="0" dirty="0">
                <a:solidFill>
                  <a:srgbClr val="CCCCCC"/>
                </a:solidFill>
                <a:effectLst/>
                <a:latin typeface="Consolas" panose="020B0609020204030204" pitchFamily="49" charset="0"/>
              </a:rPr>
              <a:t> is a valid dataset string ID recognized in </a:t>
            </a:r>
            <a:r>
              <a:rPr lang="en-US" sz="2000" b="0" dirty="0">
                <a:solidFill>
                  <a:srgbClr val="CE9178"/>
                </a:solidFill>
                <a:effectLst/>
                <a:latin typeface="Consolas" panose="020B0609020204030204" pitchFamily="49" charset="0"/>
              </a:rPr>
              <a:t>datasets/dataset.py</a:t>
            </a:r>
            <a:r>
              <a:rPr lang="en-US" sz="2000" b="0" dirty="0">
                <a:solidFill>
                  <a:srgbClr val="CCCCCC"/>
                </a:solidFill>
                <a:effectLst/>
                <a:latin typeface="Consolas" panose="020B0609020204030204" pitchFamily="49" charset="0"/>
              </a:rPr>
              <a:t>. </a:t>
            </a:r>
          </a:p>
          <a:p>
            <a:pPr marL="342900" indent="-342900">
              <a:buFont typeface="Arial" panose="020B0604020202020204" pitchFamily="34" charset="0"/>
              <a:buChar char="•"/>
            </a:pPr>
            <a:r>
              <a:rPr lang="en-US" sz="2000" b="0" dirty="0">
                <a:solidFill>
                  <a:srgbClr val="CE9178"/>
                </a:solidFill>
                <a:effectLst/>
                <a:latin typeface="Consolas" panose="020B0609020204030204" pitchFamily="49" charset="0"/>
              </a:rPr>
              <a:t>ATTACK_METHOD&gt;</a:t>
            </a:r>
            <a:r>
              <a:rPr lang="en-US" sz="2000" b="0" dirty="0">
                <a:solidFill>
                  <a:srgbClr val="CCCCCC"/>
                </a:solidFill>
                <a:effectLst/>
                <a:latin typeface="Consolas" panose="020B0609020204030204" pitchFamily="49" charset="0"/>
              </a:rPr>
              <a:t> is the identifier of the attack method. </a:t>
            </a:r>
          </a:p>
          <a:p>
            <a:pPr marL="342900" indent="-342900">
              <a:buFont typeface="Arial" panose="020B0604020202020204" pitchFamily="34" charset="0"/>
              <a:buChar char="•"/>
            </a:pPr>
            <a:r>
              <a:rPr lang="en-US" sz="2000" b="0" dirty="0">
                <a:solidFill>
                  <a:srgbClr val="CE9178"/>
                </a:solidFill>
                <a:effectLst/>
                <a:latin typeface="Consolas" panose="020B0609020204030204" pitchFamily="49" charset="0"/>
              </a:rPr>
              <a:t>&lt;POISON_RATE&gt;</a:t>
            </a:r>
            <a:r>
              <a:rPr lang="en-US" sz="2000" b="0" dirty="0">
                <a:solidFill>
                  <a:srgbClr val="CCCCCC"/>
                </a:solidFill>
                <a:effectLst/>
                <a:latin typeface="Consolas" panose="020B0609020204030204" pitchFamily="49" charset="0"/>
              </a:rPr>
              <a:t>, or </a:t>
            </a:r>
            <a:r>
              <a:rPr lang="en-US" sz="2000" b="0" i="1" dirty="0">
                <a:solidFill>
                  <a:srgbClr val="CCCCCC"/>
                </a:solidFill>
                <a:effectLst/>
                <a:latin typeface="Consolas" panose="020B0609020204030204" pitchFamily="49" charset="0"/>
              </a:rPr>
              <a:t>*π*</a:t>
            </a:r>
            <a:r>
              <a:rPr lang="en-US" sz="2000" b="0" dirty="0">
                <a:solidFill>
                  <a:srgbClr val="CCCCCC"/>
                </a:solidFill>
                <a:effectLst/>
                <a:latin typeface="Consolas" panose="020B0609020204030204" pitchFamily="49" charset="0"/>
              </a:rPr>
              <a:t> in the paper, is the proportion of the training data to be poisoned. </a:t>
            </a:r>
          </a:p>
          <a:p>
            <a:pPr marL="342900" indent="-342900">
              <a:buFont typeface="Arial" panose="020B0604020202020204" pitchFamily="34" charset="0"/>
              <a:buChar char="•"/>
            </a:pPr>
            <a:r>
              <a:rPr lang="en-US" sz="2000" b="0" dirty="0">
                <a:solidFill>
                  <a:srgbClr val="CE9178"/>
                </a:solidFill>
                <a:effectLst/>
                <a:latin typeface="Consolas" panose="020B0609020204030204" pitchFamily="49" charset="0"/>
              </a:rPr>
              <a:t>&lt;TARGET_MODEL&gt;</a:t>
            </a:r>
            <a:r>
              <a:rPr lang="en-US" sz="2000" b="0" dirty="0">
                <a:solidFill>
                  <a:srgbClr val="CCCCCC"/>
                </a:solidFill>
                <a:effectLst/>
                <a:latin typeface="Consolas" panose="020B0609020204030204" pitchFamily="49" charset="0"/>
              </a:rPr>
              <a:t> is the model we are trying to attack by training it on the poisoned data. </a:t>
            </a:r>
          </a:p>
          <a:p>
            <a:pPr marL="342900" indent="-342900">
              <a:buFont typeface="Arial" panose="020B0604020202020204" pitchFamily="34" charset="0"/>
              <a:buChar char="•"/>
            </a:pP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epsilon_px</a:t>
            </a:r>
            <a:r>
              <a:rPr lang="en-US" sz="2000" b="0" dirty="0">
                <a:solidFill>
                  <a:srgbClr val="CCCCCC"/>
                </a:solidFill>
                <a:effectLst/>
                <a:latin typeface="Consolas" panose="020B0609020204030204" pitchFamily="49" charset="0"/>
              </a:rPr>
              <a:t> is an optional parameter used by the perturbation attacks to denote the l-inf norm restriction on perturbation strength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batch_size</a:t>
            </a:r>
            <a:r>
              <a:rPr lang="en-US" sz="2000" b="0" dirty="0">
                <a:solidFill>
                  <a:srgbClr val="CCCCCC"/>
                </a:solidFill>
                <a:effectLst/>
                <a:latin typeface="Consolas" panose="020B0609020204030204" pitchFamily="49" charset="0"/>
              </a:rPr>
              <a:t> is an optional parameter specifying the batch size the feature extractor model will use.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n_epochs</a:t>
            </a:r>
            <a:r>
              <a:rPr lang="en-US" sz="2000" b="0" dirty="0">
                <a:solidFill>
                  <a:srgbClr val="CCCCCC"/>
                </a:solidFill>
                <a:effectLst/>
                <a:latin typeface="Consolas" panose="020B0609020204030204" pitchFamily="49" charset="0"/>
              </a:rPr>
              <a:t> is an optional parameter specifying the number of training epochs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solidFill>
                  <a:srgbClr val="CE9178"/>
                </a:solidFill>
                <a:effectLst/>
                <a:latin typeface="Consolas" panose="020B0609020204030204" pitchFamily="49" charset="0"/>
              </a:rPr>
              <a:t>--force</a:t>
            </a:r>
            <a:r>
              <a:rPr lang="en-US" sz="2000" b="0" dirty="0">
                <a:solidFill>
                  <a:srgbClr val="CCCCCC"/>
                </a:solidFill>
                <a:effectLst/>
                <a:latin typeface="Consolas" panose="020B0609020204030204" pitchFamily="49" charset="0"/>
              </a:rPr>
              <a:t> is an optional parameter that forces the script to execute even if a run with the same parameters has been completed before.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solidFill>
                  <a:srgbClr val="CE9178"/>
                </a:solidFill>
                <a:effectLst/>
                <a:latin typeface="Consolas" panose="020B0609020204030204" pitchFamily="49" charset="0"/>
              </a:rPr>
              <a:t>--</a:t>
            </a:r>
            <a:r>
              <a:rPr lang="en-US" sz="2000" b="0" dirty="0" err="1">
                <a:solidFill>
                  <a:srgbClr val="CE9178"/>
                </a:solidFill>
                <a:effectLst/>
                <a:latin typeface="Consolas" panose="020B0609020204030204" pitchFamily="49" charset="0"/>
              </a:rPr>
              <a:t>poison_rate</a:t>
            </a:r>
            <a:r>
              <a:rPr lang="en-US" sz="2000" b="0" dirty="0">
                <a:solidFill>
                  <a:srgbClr val="CCCCCC"/>
                </a:solidFill>
                <a:effectLst/>
                <a:latin typeface="Consolas" panose="020B0609020204030204" pitchFamily="49" charset="0"/>
              </a:rPr>
              <a:t>, or </a:t>
            </a:r>
            <a:r>
              <a:rPr lang="en-US" sz="2000" b="0" i="1" dirty="0">
                <a:solidFill>
                  <a:srgbClr val="CCCCCC"/>
                </a:solidFill>
                <a:effectLst/>
                <a:latin typeface="Consolas" panose="020B0609020204030204" pitchFamily="49" charset="0"/>
              </a:rPr>
              <a:t>*π*</a:t>
            </a:r>
            <a:r>
              <a:rPr lang="en-US" sz="2000" b="0" dirty="0">
                <a:solidFill>
                  <a:srgbClr val="CCCCCC"/>
                </a:solidFill>
                <a:effectLst/>
                <a:latin typeface="Consolas" panose="020B0609020204030204" pitchFamily="49" charset="0"/>
              </a:rPr>
              <a:t> in the paper, is the proportion of the training data to be poisoned</a:t>
            </a:r>
          </a:p>
        </p:txBody>
      </p:sp>
    </p:spTree>
    <p:extLst>
      <p:ext uri="{BB962C8B-B14F-4D97-AF65-F5344CB8AC3E}">
        <p14:creationId xmlns:p14="http://schemas.microsoft.com/office/powerpoint/2010/main" val="2157332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sp>
        <p:nvSpPr>
          <p:cNvPr id="9" name="TextBox 8">
            <a:extLst>
              <a:ext uri="{FF2B5EF4-FFF2-40B4-BE49-F238E27FC236}">
                <a16:creationId xmlns:a16="http://schemas.microsoft.com/office/drawing/2014/main" id="{35907A9A-56E1-FEC7-57E5-EB76FEAA165A}"/>
              </a:ext>
            </a:extLst>
          </p:cNvPr>
          <p:cNvSpPr txBox="1"/>
          <p:nvPr/>
        </p:nvSpPr>
        <p:spPr>
          <a:xfrm>
            <a:off x="3868209" y="805365"/>
            <a:ext cx="4455579" cy="707886"/>
          </a:xfrm>
          <a:prstGeom prst="rect">
            <a:avLst/>
          </a:prstGeom>
          <a:noFill/>
        </p:spPr>
        <p:txBody>
          <a:bodyPr wrap="none" rtlCol="0">
            <a:spAutoFit/>
          </a:bodyPr>
          <a:lstStyle/>
          <a:p>
            <a:r>
              <a:rPr lang="en-US" sz="4000" b="1" dirty="0">
                <a:solidFill>
                  <a:schemeClr val="tx2">
                    <a:lumMod val="50000"/>
                  </a:schemeClr>
                </a:solidFill>
              </a:rPr>
              <a:t>Feature Extraction</a:t>
            </a:r>
          </a:p>
        </p:txBody>
      </p:sp>
      <p:sp>
        <p:nvSpPr>
          <p:cNvPr id="10" name="TextBox 9">
            <a:extLst>
              <a:ext uri="{FF2B5EF4-FFF2-40B4-BE49-F238E27FC236}">
                <a16:creationId xmlns:a16="http://schemas.microsoft.com/office/drawing/2014/main" id="{2FD67DEA-7461-5514-0CEE-80F03AF5F834}"/>
              </a:ext>
            </a:extLst>
          </p:cNvPr>
          <p:cNvSpPr txBox="1"/>
          <p:nvPr/>
        </p:nvSpPr>
        <p:spPr>
          <a:xfrm>
            <a:off x="4483251" y="1983207"/>
            <a:ext cx="6706603" cy="369332"/>
          </a:xfrm>
          <a:prstGeom prst="rect">
            <a:avLst/>
          </a:prstGeom>
          <a:noFill/>
        </p:spPr>
        <p:txBody>
          <a:bodyPr wrap="square" rtlCol="0">
            <a:spAutoFit/>
          </a:bodyPr>
          <a:lstStyle/>
          <a:p>
            <a:r>
              <a:rPr lang="en-US" dirty="0">
                <a:solidFill>
                  <a:schemeClr val="bg1"/>
                </a:solidFill>
              </a:rPr>
              <a:t>feature_extraction.py cifar10 --</a:t>
            </a:r>
            <a:r>
              <a:rPr lang="en-US" dirty="0" err="1">
                <a:solidFill>
                  <a:schemeClr val="bg1"/>
                </a:solidFill>
              </a:rPr>
              <a:t>batch_size</a:t>
            </a:r>
            <a:r>
              <a:rPr lang="en-US" dirty="0">
                <a:solidFill>
                  <a:schemeClr val="bg1"/>
                </a:solidFill>
              </a:rPr>
              <a:t> 32</a:t>
            </a:r>
          </a:p>
        </p:txBody>
      </p:sp>
    </p:spTree>
    <p:extLst>
      <p:ext uri="{BB962C8B-B14F-4D97-AF65-F5344CB8AC3E}">
        <p14:creationId xmlns:p14="http://schemas.microsoft.com/office/powerpoint/2010/main" val="1706703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pic>
        <p:nvPicPr>
          <p:cNvPr id="8" name="Picture 7">
            <a:extLst>
              <a:ext uri="{FF2B5EF4-FFF2-40B4-BE49-F238E27FC236}">
                <a16:creationId xmlns:a16="http://schemas.microsoft.com/office/drawing/2014/main" id="{D8ABC4E5-1573-7A89-66F4-DF15BC06B762}"/>
              </a:ext>
            </a:extLst>
          </p:cNvPr>
          <p:cNvPicPr>
            <a:picLocks noChangeAspect="1"/>
          </p:cNvPicPr>
          <p:nvPr/>
        </p:nvPicPr>
        <p:blipFill>
          <a:blip r:embed="rId3"/>
          <a:stretch>
            <a:fillRect/>
          </a:stretch>
        </p:blipFill>
        <p:spPr>
          <a:xfrm>
            <a:off x="1002145" y="2045159"/>
            <a:ext cx="10187709" cy="4812841"/>
          </a:xfrm>
          <a:prstGeom prst="rect">
            <a:avLst/>
          </a:prstGeom>
        </p:spPr>
      </p:pic>
      <p:sp>
        <p:nvSpPr>
          <p:cNvPr id="9" name="TextBox 8">
            <a:extLst>
              <a:ext uri="{FF2B5EF4-FFF2-40B4-BE49-F238E27FC236}">
                <a16:creationId xmlns:a16="http://schemas.microsoft.com/office/drawing/2014/main" id="{35907A9A-56E1-FEC7-57E5-EB76FEAA165A}"/>
              </a:ext>
            </a:extLst>
          </p:cNvPr>
          <p:cNvSpPr txBox="1"/>
          <p:nvPr/>
        </p:nvSpPr>
        <p:spPr>
          <a:xfrm>
            <a:off x="2784225" y="814602"/>
            <a:ext cx="6808274" cy="707886"/>
          </a:xfrm>
          <a:prstGeom prst="rect">
            <a:avLst/>
          </a:prstGeom>
          <a:noFill/>
        </p:spPr>
        <p:txBody>
          <a:bodyPr wrap="none" rtlCol="0">
            <a:spAutoFit/>
          </a:bodyPr>
          <a:lstStyle/>
          <a:p>
            <a:r>
              <a:rPr lang="en-US" sz="4000" b="1" dirty="0">
                <a:solidFill>
                  <a:schemeClr val="tx2">
                    <a:lumMod val="50000"/>
                  </a:schemeClr>
                </a:solidFill>
              </a:rPr>
              <a:t>Training the surrogate model</a:t>
            </a:r>
          </a:p>
        </p:txBody>
      </p:sp>
      <p:sp>
        <p:nvSpPr>
          <p:cNvPr id="10" name="TextBox 9">
            <a:extLst>
              <a:ext uri="{FF2B5EF4-FFF2-40B4-BE49-F238E27FC236}">
                <a16:creationId xmlns:a16="http://schemas.microsoft.com/office/drawing/2014/main" id="{2FD67DEA-7461-5514-0CEE-80F03AF5F834}"/>
              </a:ext>
            </a:extLst>
          </p:cNvPr>
          <p:cNvSpPr txBox="1"/>
          <p:nvPr/>
        </p:nvSpPr>
        <p:spPr>
          <a:xfrm>
            <a:off x="4483251" y="1983207"/>
            <a:ext cx="6706603" cy="646331"/>
          </a:xfrm>
          <a:prstGeom prst="rect">
            <a:avLst/>
          </a:prstGeom>
          <a:noFill/>
        </p:spPr>
        <p:txBody>
          <a:bodyPr wrap="square" rtlCol="0">
            <a:spAutoFit/>
          </a:bodyPr>
          <a:lstStyle/>
          <a:p>
            <a:r>
              <a:rPr lang="en-US" dirty="0">
                <a:solidFill>
                  <a:schemeClr val="bg1"/>
                </a:solidFill>
              </a:rPr>
              <a:t>python attack_and_train.py clean cifar10 surrogate --</a:t>
            </a:r>
            <a:r>
              <a:rPr lang="en-US" dirty="0" err="1">
                <a:solidFill>
                  <a:schemeClr val="bg1"/>
                </a:solidFill>
              </a:rPr>
              <a:t>batch_size</a:t>
            </a:r>
            <a:r>
              <a:rPr lang="en-US" dirty="0">
                <a:solidFill>
                  <a:schemeClr val="bg1"/>
                </a:solidFill>
              </a:rPr>
              <a:t> 32 --</a:t>
            </a:r>
            <a:r>
              <a:rPr lang="en-US" dirty="0" err="1">
                <a:solidFill>
                  <a:schemeClr val="bg1"/>
                </a:solidFill>
              </a:rPr>
              <a:t>n_epochs</a:t>
            </a:r>
            <a:r>
              <a:rPr lang="en-US" dirty="0">
                <a:solidFill>
                  <a:schemeClr val="bg1"/>
                </a:solidFill>
              </a:rPr>
              <a:t> 30</a:t>
            </a:r>
          </a:p>
        </p:txBody>
      </p:sp>
    </p:spTree>
    <p:extLst>
      <p:ext uri="{BB962C8B-B14F-4D97-AF65-F5344CB8AC3E}">
        <p14:creationId xmlns:p14="http://schemas.microsoft.com/office/powerpoint/2010/main" val="3132985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sp>
        <p:nvSpPr>
          <p:cNvPr id="9" name="TextBox 8">
            <a:extLst>
              <a:ext uri="{FF2B5EF4-FFF2-40B4-BE49-F238E27FC236}">
                <a16:creationId xmlns:a16="http://schemas.microsoft.com/office/drawing/2014/main" id="{35907A9A-56E1-FEC7-57E5-EB76FEAA165A}"/>
              </a:ext>
            </a:extLst>
          </p:cNvPr>
          <p:cNvSpPr txBox="1"/>
          <p:nvPr/>
        </p:nvSpPr>
        <p:spPr>
          <a:xfrm>
            <a:off x="3819125" y="915523"/>
            <a:ext cx="4553747" cy="707886"/>
          </a:xfrm>
          <a:prstGeom prst="rect">
            <a:avLst/>
          </a:prstGeom>
          <a:noFill/>
        </p:spPr>
        <p:txBody>
          <a:bodyPr wrap="none" rtlCol="0">
            <a:spAutoFit/>
          </a:bodyPr>
          <a:lstStyle/>
          <a:p>
            <a:r>
              <a:rPr lang="en-US" sz="4000" b="1" dirty="0">
                <a:solidFill>
                  <a:schemeClr val="tx2">
                    <a:lumMod val="50000"/>
                  </a:schemeClr>
                </a:solidFill>
              </a:rPr>
              <a:t>Crafting the Attack</a:t>
            </a:r>
          </a:p>
        </p:txBody>
      </p:sp>
      <p:sp>
        <p:nvSpPr>
          <p:cNvPr id="10" name="TextBox 9">
            <a:extLst>
              <a:ext uri="{FF2B5EF4-FFF2-40B4-BE49-F238E27FC236}">
                <a16:creationId xmlns:a16="http://schemas.microsoft.com/office/drawing/2014/main" id="{2FD67DEA-7461-5514-0CEE-80F03AF5F834}"/>
              </a:ext>
            </a:extLst>
          </p:cNvPr>
          <p:cNvSpPr txBox="1"/>
          <p:nvPr/>
        </p:nvSpPr>
        <p:spPr>
          <a:xfrm>
            <a:off x="4483251" y="1983207"/>
            <a:ext cx="6706603" cy="369332"/>
          </a:xfrm>
          <a:prstGeom prst="rect">
            <a:avLst/>
          </a:prstGeom>
          <a:noFill/>
        </p:spPr>
        <p:txBody>
          <a:bodyPr wrap="square" rtlCol="0">
            <a:spAutoFit/>
          </a:bodyPr>
          <a:lstStyle/>
          <a:p>
            <a:r>
              <a:rPr lang="en-US" dirty="0">
                <a:solidFill>
                  <a:schemeClr val="bg1"/>
                </a:solidFill>
              </a:rPr>
              <a:t>python craft_attack.py trainwreck cifar10 0.1 --</a:t>
            </a:r>
            <a:r>
              <a:rPr lang="en-US" dirty="0" err="1">
                <a:solidFill>
                  <a:schemeClr val="bg1"/>
                </a:solidFill>
              </a:rPr>
              <a:t>epsilon_px</a:t>
            </a:r>
            <a:r>
              <a:rPr lang="en-US" dirty="0">
                <a:solidFill>
                  <a:schemeClr val="bg1"/>
                </a:solidFill>
              </a:rPr>
              <a:t> 8</a:t>
            </a:r>
          </a:p>
        </p:txBody>
      </p:sp>
    </p:spTree>
    <p:extLst>
      <p:ext uri="{BB962C8B-B14F-4D97-AF65-F5344CB8AC3E}">
        <p14:creationId xmlns:p14="http://schemas.microsoft.com/office/powerpoint/2010/main" val="13239636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sp>
        <p:nvSpPr>
          <p:cNvPr id="9" name="TextBox 8">
            <a:extLst>
              <a:ext uri="{FF2B5EF4-FFF2-40B4-BE49-F238E27FC236}">
                <a16:creationId xmlns:a16="http://schemas.microsoft.com/office/drawing/2014/main" id="{35907A9A-56E1-FEC7-57E5-EB76FEAA165A}"/>
              </a:ext>
            </a:extLst>
          </p:cNvPr>
          <p:cNvSpPr txBox="1"/>
          <p:nvPr/>
        </p:nvSpPr>
        <p:spPr>
          <a:xfrm>
            <a:off x="3615576" y="1091014"/>
            <a:ext cx="4960845" cy="707886"/>
          </a:xfrm>
          <a:prstGeom prst="rect">
            <a:avLst/>
          </a:prstGeom>
          <a:noFill/>
        </p:spPr>
        <p:txBody>
          <a:bodyPr wrap="none" rtlCol="0">
            <a:spAutoFit/>
          </a:bodyPr>
          <a:lstStyle/>
          <a:p>
            <a:r>
              <a:rPr lang="en-US" sz="4000" b="1" dirty="0">
                <a:solidFill>
                  <a:schemeClr val="tx2">
                    <a:lumMod val="50000"/>
                  </a:schemeClr>
                </a:solidFill>
              </a:rPr>
              <a:t>Executing the Attack</a:t>
            </a:r>
          </a:p>
        </p:txBody>
      </p:sp>
      <p:sp>
        <p:nvSpPr>
          <p:cNvPr id="10" name="TextBox 9">
            <a:extLst>
              <a:ext uri="{FF2B5EF4-FFF2-40B4-BE49-F238E27FC236}">
                <a16:creationId xmlns:a16="http://schemas.microsoft.com/office/drawing/2014/main" id="{2FD67DEA-7461-5514-0CEE-80F03AF5F834}"/>
              </a:ext>
            </a:extLst>
          </p:cNvPr>
          <p:cNvSpPr txBox="1"/>
          <p:nvPr/>
        </p:nvSpPr>
        <p:spPr>
          <a:xfrm>
            <a:off x="4483251" y="1983207"/>
            <a:ext cx="6706603" cy="646331"/>
          </a:xfrm>
          <a:prstGeom prst="rect">
            <a:avLst/>
          </a:prstGeom>
          <a:noFill/>
        </p:spPr>
        <p:txBody>
          <a:bodyPr wrap="square" rtlCol="0">
            <a:spAutoFit/>
          </a:bodyPr>
          <a:lstStyle/>
          <a:p>
            <a:r>
              <a:rPr lang="en-US" dirty="0">
                <a:solidFill>
                  <a:schemeClr val="bg1"/>
                </a:solidFill>
              </a:rPr>
              <a:t>python attack_and_train.py trainwreck cifar10 </a:t>
            </a:r>
            <a:r>
              <a:rPr lang="en-US" dirty="0" err="1">
                <a:solidFill>
                  <a:schemeClr val="bg1"/>
                </a:solidFill>
              </a:rPr>
              <a:t>resnext</a:t>
            </a:r>
            <a:r>
              <a:rPr lang="en-US" dirty="0">
                <a:solidFill>
                  <a:schemeClr val="bg1"/>
                </a:solidFill>
              </a:rPr>
              <a:t> --</a:t>
            </a:r>
            <a:r>
              <a:rPr lang="en-US" dirty="0" err="1">
                <a:solidFill>
                  <a:schemeClr val="bg1"/>
                </a:solidFill>
              </a:rPr>
              <a:t>poison_rate</a:t>
            </a:r>
            <a:r>
              <a:rPr lang="en-US" dirty="0">
                <a:solidFill>
                  <a:schemeClr val="bg1"/>
                </a:solidFill>
              </a:rPr>
              <a:t> 0.1 --</a:t>
            </a:r>
            <a:r>
              <a:rPr lang="en-US" dirty="0" err="1">
                <a:solidFill>
                  <a:schemeClr val="bg1"/>
                </a:solidFill>
              </a:rPr>
              <a:t>epsilon_px</a:t>
            </a:r>
            <a:r>
              <a:rPr lang="en-US" dirty="0">
                <a:solidFill>
                  <a:schemeClr val="bg1"/>
                </a:solidFill>
              </a:rPr>
              <a:t> 8 --</a:t>
            </a:r>
            <a:r>
              <a:rPr lang="en-US" dirty="0" err="1">
                <a:solidFill>
                  <a:schemeClr val="bg1"/>
                </a:solidFill>
              </a:rPr>
              <a:t>batch_size</a:t>
            </a:r>
            <a:r>
              <a:rPr lang="en-US" dirty="0">
                <a:solidFill>
                  <a:schemeClr val="bg1"/>
                </a:solidFill>
              </a:rPr>
              <a:t> 32 --</a:t>
            </a:r>
            <a:r>
              <a:rPr lang="en-US" dirty="0" err="1">
                <a:solidFill>
                  <a:schemeClr val="bg1"/>
                </a:solidFill>
              </a:rPr>
              <a:t>n_epochs</a:t>
            </a:r>
            <a:r>
              <a:rPr lang="en-US" dirty="0">
                <a:solidFill>
                  <a:schemeClr val="bg1"/>
                </a:solidFill>
              </a:rPr>
              <a:t> 30</a:t>
            </a:r>
          </a:p>
        </p:txBody>
      </p:sp>
    </p:spTree>
    <p:extLst>
      <p:ext uri="{BB962C8B-B14F-4D97-AF65-F5344CB8AC3E}">
        <p14:creationId xmlns:p14="http://schemas.microsoft.com/office/powerpoint/2010/main" val="944635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a:xfrm>
            <a:off x="838199" y="0"/>
            <a:ext cx="10515600" cy="1325563"/>
          </a:xfrm>
        </p:spPr>
        <p:txBody>
          <a:bodyPr>
            <a:normAutofit/>
          </a:bodyPr>
          <a:lstStyle/>
          <a:p>
            <a:pPr algn="ctr"/>
            <a:r>
              <a:rPr lang="en-US" sz="5400" b="1" dirty="0">
                <a:solidFill>
                  <a:schemeClr val="accent3">
                    <a:lumMod val="50000"/>
                  </a:schemeClr>
                </a:solidFill>
              </a:rPr>
              <a:t>Performing Trainwreck</a:t>
            </a:r>
          </a:p>
        </p:txBody>
      </p:sp>
      <p:sp>
        <p:nvSpPr>
          <p:cNvPr id="9" name="TextBox 8">
            <a:extLst>
              <a:ext uri="{FF2B5EF4-FFF2-40B4-BE49-F238E27FC236}">
                <a16:creationId xmlns:a16="http://schemas.microsoft.com/office/drawing/2014/main" id="{35907A9A-56E1-FEC7-57E5-EB76FEAA165A}"/>
              </a:ext>
            </a:extLst>
          </p:cNvPr>
          <p:cNvSpPr txBox="1"/>
          <p:nvPr/>
        </p:nvSpPr>
        <p:spPr>
          <a:xfrm>
            <a:off x="4082563" y="1072541"/>
            <a:ext cx="4026872" cy="707886"/>
          </a:xfrm>
          <a:prstGeom prst="rect">
            <a:avLst/>
          </a:prstGeom>
          <a:noFill/>
        </p:spPr>
        <p:txBody>
          <a:bodyPr wrap="none" rtlCol="0">
            <a:spAutoFit/>
          </a:bodyPr>
          <a:lstStyle/>
          <a:p>
            <a:r>
              <a:rPr lang="en-US" sz="4000" b="1" dirty="0">
                <a:solidFill>
                  <a:schemeClr val="tx2">
                    <a:lumMod val="50000"/>
                  </a:schemeClr>
                </a:solidFill>
              </a:rPr>
              <a:t>Results Analysis</a:t>
            </a:r>
          </a:p>
        </p:txBody>
      </p:sp>
      <p:sp>
        <p:nvSpPr>
          <p:cNvPr id="10" name="TextBox 9">
            <a:extLst>
              <a:ext uri="{FF2B5EF4-FFF2-40B4-BE49-F238E27FC236}">
                <a16:creationId xmlns:a16="http://schemas.microsoft.com/office/drawing/2014/main" id="{2FD67DEA-7461-5514-0CEE-80F03AF5F834}"/>
              </a:ext>
            </a:extLst>
          </p:cNvPr>
          <p:cNvSpPr txBox="1"/>
          <p:nvPr/>
        </p:nvSpPr>
        <p:spPr>
          <a:xfrm>
            <a:off x="4483251" y="1983207"/>
            <a:ext cx="6706603" cy="369332"/>
          </a:xfrm>
          <a:prstGeom prst="rect">
            <a:avLst/>
          </a:prstGeom>
          <a:noFill/>
        </p:spPr>
        <p:txBody>
          <a:bodyPr wrap="square" rtlCol="0">
            <a:spAutoFit/>
          </a:bodyPr>
          <a:lstStyle/>
          <a:p>
            <a:r>
              <a:rPr lang="en-US" dirty="0">
                <a:solidFill>
                  <a:schemeClr val="bg1"/>
                </a:solidFill>
              </a:rPr>
              <a:t>python results_analysis.py</a:t>
            </a:r>
          </a:p>
        </p:txBody>
      </p:sp>
    </p:spTree>
    <p:extLst>
      <p:ext uri="{BB962C8B-B14F-4D97-AF65-F5344CB8AC3E}">
        <p14:creationId xmlns:p14="http://schemas.microsoft.com/office/powerpoint/2010/main" val="2016350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CD44-B214-1F4A-3911-9DF35BC23399}"/>
              </a:ext>
            </a:extLst>
          </p:cNvPr>
          <p:cNvSpPr>
            <a:spLocks noGrp="1"/>
          </p:cNvSpPr>
          <p:nvPr>
            <p:ph type="title"/>
          </p:nvPr>
        </p:nvSpPr>
        <p:spPr/>
        <p:txBody>
          <a:bodyPr>
            <a:normAutofit/>
          </a:bodyPr>
          <a:lstStyle/>
          <a:p>
            <a:pPr algn="ctr"/>
            <a:r>
              <a:rPr lang="en-US" sz="5400" b="1" dirty="0">
                <a:solidFill>
                  <a:schemeClr val="accent3">
                    <a:lumMod val="50000"/>
                  </a:schemeClr>
                </a:solidFill>
              </a:rPr>
              <a:t>Defending against Trainwreck</a:t>
            </a:r>
          </a:p>
        </p:txBody>
      </p:sp>
      <p:sp>
        <p:nvSpPr>
          <p:cNvPr id="3" name="Content Placeholder 2">
            <a:extLst>
              <a:ext uri="{FF2B5EF4-FFF2-40B4-BE49-F238E27FC236}">
                <a16:creationId xmlns:a16="http://schemas.microsoft.com/office/drawing/2014/main" id="{4BF3C362-D791-70CC-6CD9-44758AE53868}"/>
              </a:ext>
            </a:extLst>
          </p:cNvPr>
          <p:cNvSpPr>
            <a:spLocks noGrp="1"/>
          </p:cNvSpPr>
          <p:nvPr>
            <p:ph idx="1"/>
          </p:nvPr>
        </p:nvSpPr>
        <p:spPr/>
        <p:txBody>
          <a:bodyPr>
            <a:normAutofit/>
          </a:bodyPr>
          <a:lstStyle/>
          <a:p>
            <a:r>
              <a:rPr lang="en-US" sz="4000" b="1" dirty="0">
                <a:solidFill>
                  <a:schemeClr val="tx2">
                    <a:lumMod val="50000"/>
                  </a:schemeClr>
                </a:solidFill>
              </a:rPr>
              <a:t>Data sanitization and verification</a:t>
            </a:r>
          </a:p>
          <a:p>
            <a:r>
              <a:rPr lang="en-US" sz="4000" b="1" dirty="0">
                <a:solidFill>
                  <a:schemeClr val="tx2">
                    <a:lumMod val="50000"/>
                  </a:schemeClr>
                </a:solidFill>
              </a:rPr>
              <a:t>Robust training techniques</a:t>
            </a:r>
          </a:p>
          <a:p>
            <a:r>
              <a:rPr lang="en-US" sz="4000" b="1" dirty="0">
                <a:solidFill>
                  <a:schemeClr val="tx2">
                    <a:lumMod val="50000"/>
                  </a:schemeClr>
                </a:solidFill>
              </a:rPr>
              <a:t>Model validation</a:t>
            </a:r>
          </a:p>
        </p:txBody>
      </p:sp>
    </p:spTree>
    <p:extLst>
      <p:ext uri="{BB962C8B-B14F-4D97-AF65-F5344CB8AC3E}">
        <p14:creationId xmlns:p14="http://schemas.microsoft.com/office/powerpoint/2010/main" val="632038387"/>
      </p:ext>
    </p:extLst>
  </p:cSld>
  <p:clrMapOvr>
    <a:masterClrMapping/>
  </p:clrMapOvr>
</p:sld>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356</TotalTime>
  <Words>3611</Words>
  <Application>Microsoft Office PowerPoint</Application>
  <PresentationFormat>Widescreen</PresentationFormat>
  <Paragraphs>191</Paragraphs>
  <Slides>14</Slides>
  <Notes>13</Notes>
  <HiddenSlides>4</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Consolas</vt:lpstr>
      <vt:lpstr>DarkSurfer Base</vt:lpstr>
      <vt:lpstr>Office Theme</vt:lpstr>
      <vt:lpstr>Trainwreck</vt:lpstr>
      <vt:lpstr>Key Features</vt:lpstr>
      <vt:lpstr>Steps to Perform Trainwreck Attack</vt:lpstr>
      <vt:lpstr>Implications</vt:lpstr>
      <vt:lpstr>Demonstration</vt:lpstr>
      <vt:lpstr>Required Libraries</vt:lpstr>
      <vt:lpstr>Performing Trainwreck</vt:lpstr>
      <vt:lpstr>PowerPoint Presentation</vt:lpstr>
      <vt:lpstr>Performing Trainwreck</vt:lpstr>
      <vt:lpstr>Performing Trainwreck</vt:lpstr>
      <vt:lpstr>Performing Trainwreck</vt:lpstr>
      <vt:lpstr>Performing Trainwreck</vt:lpstr>
      <vt:lpstr>Performing Trainwreck</vt:lpstr>
      <vt:lpstr>Defending against Trainwreck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Alexander Schoolcraft (ADSCHO3199)</dc:creator>
  <cp:lastModifiedBy>Alexander Schoolcraft (ADSCHO3199)</cp:lastModifiedBy>
  <cp:revision>14</cp:revision>
  <dcterms:created xsi:type="dcterms:W3CDTF">2024-10-20T18:41:38Z</dcterms:created>
  <dcterms:modified xsi:type="dcterms:W3CDTF">2024-10-21T13:10:19Z</dcterms:modified>
</cp:coreProperties>
</file>