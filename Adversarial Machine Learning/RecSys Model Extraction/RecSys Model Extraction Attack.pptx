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Old Standard TT"/>
      <p:regular r:id="rId17"/>
      <p:bold r:id="rId18"/>
      <p: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1584"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ldStandardT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ldStandardTT-italic.fntdata"/><Relationship Id="rId6" Type="http://schemas.openxmlformats.org/officeDocument/2006/relationships/slide" Target="slides/slide1.xml"/><Relationship Id="rId18" Type="http://schemas.openxmlformats.org/officeDocument/2006/relationships/font" Target="fonts/OldStandardT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11b526214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11b526214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Generate the initial models using a given dataset.</a:t>
            </a:r>
            <a:endParaRPr/>
          </a:p>
          <a:p>
            <a:pPr indent="-298450" lvl="0" marL="457200" rtl="0" algn="l">
              <a:spcBef>
                <a:spcPts val="0"/>
              </a:spcBef>
              <a:spcAft>
                <a:spcPts val="0"/>
              </a:spcAft>
              <a:buSzPts val="1100"/>
              <a:buAutoNum type="arabicPeriod"/>
            </a:pPr>
            <a:r>
              <a:rPr lang="en"/>
              <a:t>Use a dataset to extract the black-box model’s weights, to create an identical white-box model through distillation.</a:t>
            </a:r>
            <a:endParaRPr/>
          </a:p>
          <a:p>
            <a:pPr indent="-298450" lvl="0" marL="457200" rtl="0" algn="l">
              <a:spcBef>
                <a:spcPts val="0"/>
              </a:spcBef>
              <a:spcAft>
                <a:spcPts val="0"/>
              </a:spcAft>
              <a:buSzPts val="1100"/>
              <a:buAutoNum type="arabicPeriod"/>
            </a:pPr>
            <a:r>
              <a:rPr lang="en"/>
              <a:t>Use the white-box model to generate adversarial images to pollute the profile.</a:t>
            </a:r>
            <a:endParaRPr/>
          </a:p>
          <a:p>
            <a:pPr indent="-298450" lvl="0" marL="457200" rtl="0" algn="l">
              <a:spcBef>
                <a:spcPts val="0"/>
              </a:spcBef>
              <a:spcAft>
                <a:spcPts val="0"/>
              </a:spcAft>
              <a:buSzPts val="1100"/>
              <a:buAutoNum type="arabicPeriod"/>
            </a:pPr>
            <a:r>
              <a:rPr lang="en"/>
              <a:t>Poison the dataset to corrupt the model, causing the model to give higher preference to the targeted items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11b526214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11b526214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step in this process was to build the initial black box models. These all performed well, with strong values for a recommender system’s metrics: Recall@k and Normalized Discounted Cumulative Gain@k (where ‘k’ is a value of 1, 5, or 10) - this indicates how much a targeted value appears as expected in the top 1/5/10 lists.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1b526214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11b526214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Once the black box models were built - the next step is to extract the weights of the models using a distillation process to create a white box model that can be used for crafting adversarial data.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11b5262144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11b5262144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1b526214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1b526214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1b526214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1b526214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11b5262144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11b5262144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11b5262144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11b526214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22e20d6d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122e20d6d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122e20d6d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122e20d6d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pollution attack - so, the higher the change value, the more successful the attack was.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nap.stanford.edu/data/amazon/productGraph/categoryFiles/ratings_Video_Games.csv"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RecSys Model Extraction Attack</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Group: Garfunkle</a:t>
            </a:r>
            <a:endParaRPr/>
          </a:p>
          <a:p>
            <a:pPr indent="0" lvl="0" marL="0" rtl="0" algn="l">
              <a:spcBef>
                <a:spcPts val="0"/>
              </a:spcBef>
              <a:spcAft>
                <a:spcPts val="0"/>
              </a:spcAft>
              <a:buNone/>
            </a:pPr>
            <a:r>
              <a:rPr lang="en" sz="1237"/>
              <a:t>Alexander Schoolcraft, Scott Fitz Gerald,</a:t>
            </a:r>
            <a:r>
              <a:rPr lang="en" sz="1237"/>
              <a:t> Josh Murphy,</a:t>
            </a:r>
            <a:r>
              <a:rPr lang="en" sz="1237"/>
              <a:t> Simon Kuester</a:t>
            </a:r>
            <a:endParaRPr sz="1237"/>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Process</a:t>
            </a:r>
            <a:endParaRPr/>
          </a:p>
        </p:txBody>
      </p:sp>
      <p:sp>
        <p:nvSpPr>
          <p:cNvPr id="66" name="Google Shape;66;p1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7" name="Google Shape;67;p14" title="intro.png"/>
          <p:cNvPicPr preferRelativeResize="0"/>
          <p:nvPr/>
        </p:nvPicPr>
        <p:blipFill>
          <a:blip r:embed="rId3">
            <a:alphaModFix/>
          </a:blip>
          <a:stretch>
            <a:fillRect/>
          </a:stretch>
        </p:blipFill>
        <p:spPr>
          <a:xfrm>
            <a:off x="0" y="1001179"/>
            <a:ext cx="9144003" cy="38174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Models and Dataset</a:t>
            </a:r>
            <a:endParaRPr/>
          </a:p>
        </p:txBody>
      </p:sp>
      <p:sp>
        <p:nvSpPr>
          <p:cNvPr id="73" name="Google Shape;73;p15"/>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BERT4Rec</a:t>
            </a:r>
            <a:endParaRPr/>
          </a:p>
          <a:p>
            <a:pPr indent="-317500" lvl="1" marL="914400" rtl="0" algn="l">
              <a:spcBef>
                <a:spcPts val="0"/>
              </a:spcBef>
              <a:spcAft>
                <a:spcPts val="0"/>
              </a:spcAft>
              <a:buSzPts val="1400"/>
              <a:buChar char="○"/>
            </a:pPr>
            <a:r>
              <a:rPr lang="en"/>
              <a:t>A highly complex recommender model that runs on transformers with attention layers.</a:t>
            </a:r>
            <a:endParaRPr/>
          </a:p>
          <a:p>
            <a:pPr indent="-342900" lvl="0" marL="457200" rtl="0" algn="l">
              <a:spcBef>
                <a:spcPts val="0"/>
              </a:spcBef>
              <a:spcAft>
                <a:spcPts val="0"/>
              </a:spcAft>
              <a:buSzPts val="1800"/>
              <a:buChar char="●"/>
            </a:pPr>
            <a:r>
              <a:rPr lang="en"/>
              <a:t>SASRec</a:t>
            </a:r>
            <a:endParaRPr/>
          </a:p>
          <a:p>
            <a:pPr indent="-317500" lvl="1" marL="914400" rtl="0" algn="l">
              <a:spcBef>
                <a:spcPts val="0"/>
              </a:spcBef>
              <a:spcAft>
                <a:spcPts val="0"/>
              </a:spcAft>
              <a:buSzPts val="1400"/>
              <a:buChar char="○"/>
            </a:pPr>
            <a:r>
              <a:rPr lang="en"/>
              <a:t>A less complex recommender model, still runs on transformers, however it does not contain the attention layers.</a:t>
            </a:r>
            <a:endParaRPr/>
          </a:p>
          <a:p>
            <a:pPr indent="-342900" lvl="0" marL="457200" rtl="0" algn="l">
              <a:spcBef>
                <a:spcPts val="0"/>
              </a:spcBef>
              <a:spcAft>
                <a:spcPts val="0"/>
              </a:spcAft>
              <a:buSzPts val="1800"/>
              <a:buChar char="●"/>
            </a:pPr>
            <a:r>
              <a:rPr lang="en"/>
              <a:t>NARM</a:t>
            </a:r>
            <a:endParaRPr/>
          </a:p>
          <a:p>
            <a:pPr indent="-317500" lvl="1" marL="914400" rtl="0" algn="l">
              <a:spcBef>
                <a:spcPts val="0"/>
              </a:spcBef>
              <a:spcAft>
                <a:spcPts val="0"/>
              </a:spcAft>
              <a:buSzPts val="1400"/>
              <a:buChar char="○"/>
            </a:pPr>
            <a:r>
              <a:rPr lang="en"/>
              <a:t>A Recurrent Neural Network (RNN) that includes attention layers. The least complex of the three models.</a:t>
            </a:r>
            <a:br>
              <a:rPr lang="en"/>
            </a:br>
            <a:endParaRPr/>
          </a:p>
          <a:p>
            <a:pPr indent="-342900" lvl="0" marL="457200" rtl="0" algn="l">
              <a:spcBef>
                <a:spcPts val="0"/>
              </a:spcBef>
              <a:spcAft>
                <a:spcPts val="0"/>
              </a:spcAft>
              <a:buSzPts val="1800"/>
              <a:buChar char="●"/>
            </a:pPr>
            <a:r>
              <a:rPr lang="en"/>
              <a:t>Games</a:t>
            </a:r>
            <a:endParaRPr/>
          </a:p>
          <a:p>
            <a:pPr indent="-317500" lvl="1" marL="914400" rtl="0" algn="l">
              <a:spcBef>
                <a:spcPts val="0"/>
              </a:spcBef>
              <a:spcAft>
                <a:spcPts val="0"/>
              </a:spcAft>
              <a:buSzPts val="1400"/>
              <a:buChar char="○"/>
            </a:pPr>
            <a:r>
              <a:rPr lang="en" sz="1050" u="sng">
                <a:solidFill>
                  <a:schemeClr val="hlink"/>
                </a:solidFill>
                <a:hlinkClick r:id="rId3"/>
              </a:rPr>
              <a:t>http://snap.stanford.edu/data/amazon/productGraph/categoryFiles/ratings_Video_Games.csv</a:t>
            </a:r>
            <a:endParaRPr sz="1050"/>
          </a:p>
          <a:p>
            <a:pPr indent="-317500" lvl="1" marL="914400" rtl="0" algn="l">
              <a:spcBef>
                <a:spcPts val="0"/>
              </a:spcBef>
              <a:spcAft>
                <a:spcPts val="0"/>
              </a:spcAft>
              <a:buSzPts val="1400"/>
              <a:buChar char="○"/>
            </a:pPr>
            <a:r>
              <a:rPr lang="en"/>
              <a:t>CSV with 4 columns: UUID, SID, Rating, and UNIX Timestamp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Extracting the Model</a:t>
            </a:r>
            <a:endParaRPr/>
          </a:p>
        </p:txBody>
      </p:sp>
      <p:sp>
        <p:nvSpPr>
          <p:cNvPr id="79" name="Google Shape;79;p16"/>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0" name="Google Shape;80;p16" title="Model_extract_via_distill.jpg"/>
          <p:cNvPicPr preferRelativeResize="0"/>
          <p:nvPr/>
        </p:nvPicPr>
        <p:blipFill>
          <a:blip r:embed="rId3">
            <a:alphaModFix/>
          </a:blip>
          <a:stretch>
            <a:fillRect/>
          </a:stretch>
        </p:blipFill>
        <p:spPr>
          <a:xfrm>
            <a:off x="0" y="1171595"/>
            <a:ext cx="9144003" cy="328166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Autoregression</a:t>
            </a:r>
            <a:endParaRPr/>
          </a:p>
        </p:txBody>
      </p:sp>
      <p:sp>
        <p:nvSpPr>
          <p:cNvPr id="86" name="Google Shape;86;p17"/>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7" title="AutoReg_Data_gen.jpg"/>
          <p:cNvPicPr preferRelativeResize="0"/>
          <p:nvPr/>
        </p:nvPicPr>
        <p:blipFill>
          <a:blip r:embed="rId3">
            <a:alphaModFix/>
          </a:blip>
          <a:stretch>
            <a:fillRect/>
          </a:stretch>
        </p:blipFill>
        <p:spPr>
          <a:xfrm>
            <a:off x="0" y="1058216"/>
            <a:ext cx="9144001" cy="38465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 the pollution data</a:t>
            </a:r>
            <a:endParaRPr/>
          </a:p>
        </p:txBody>
      </p:sp>
      <p:pic>
        <p:nvPicPr>
          <p:cNvPr id="93" name="Google Shape;93;p18" title="Profile_pollution.jpg"/>
          <p:cNvPicPr preferRelativeResize="0"/>
          <p:nvPr/>
        </p:nvPicPr>
        <p:blipFill>
          <a:blip r:embed="rId3">
            <a:alphaModFix/>
          </a:blip>
          <a:stretch>
            <a:fillRect/>
          </a:stretch>
        </p:blipFill>
        <p:spPr>
          <a:xfrm>
            <a:off x="1117002" y="1058225"/>
            <a:ext cx="7100701" cy="4016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t>Algorithm 1: Adversarial Item Search for Profile Pollution</a:t>
            </a:r>
            <a:endParaRPr/>
          </a:p>
        </p:txBody>
      </p:sp>
      <p:sp>
        <p:nvSpPr>
          <p:cNvPr id="99" name="Google Shape;99;p19"/>
          <p:cNvSpPr txBox="1"/>
          <p:nvPr>
            <p:ph idx="1" type="body"/>
          </p:nvPr>
        </p:nvSpPr>
        <p:spPr>
          <a:xfrm>
            <a:off x="311700" y="1171600"/>
            <a:ext cx="8520600" cy="33972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lang="en"/>
              <a:t>Input sequence 𝒙, target 𝑡 , expected length of polluted sequence 𝑇 , white-box model 𝒇𝑤 (i.e. 𝒇𝑤,𝑒 , 𝒇𝑤,𝑚), 𝜖 and 𝑛;</a:t>
            </a:r>
            <a:endParaRPr/>
          </a:p>
          <a:p>
            <a:pPr indent="0" lvl="0" marL="0" rtl="0" algn="l">
              <a:lnSpc>
                <a:spcPct val="100000"/>
              </a:lnSpc>
              <a:spcBef>
                <a:spcPts val="0"/>
              </a:spcBef>
              <a:spcAft>
                <a:spcPts val="0"/>
              </a:spcAft>
              <a:buNone/>
            </a:pPr>
            <a:r>
              <a:rPr lang="en"/>
              <a:t>Output polluted sequence 𝒛;</a:t>
            </a:r>
            <a:endParaRPr/>
          </a:p>
          <a:p>
            <a:pPr indent="0" lvl="0" marL="0" rtl="0" algn="l">
              <a:lnSpc>
                <a:spcPct val="100000"/>
              </a:lnSpc>
              <a:spcBef>
                <a:spcPts val="0"/>
              </a:spcBef>
              <a:spcAft>
                <a:spcPts val="0"/>
              </a:spcAft>
              <a:buNone/>
            </a:pPr>
            <a:r>
              <a:rPr lang="en"/>
              <a:t>initialize 𝒛 with 𝒛 = 𝒙;</a:t>
            </a:r>
            <a:endParaRPr/>
          </a:p>
          <a:p>
            <a:pPr indent="0" lvl="0" marL="0" rtl="0" algn="l">
              <a:lnSpc>
                <a:spcPct val="100000"/>
              </a:lnSpc>
              <a:spcBef>
                <a:spcPts val="0"/>
              </a:spcBef>
              <a:spcAft>
                <a:spcPts val="0"/>
              </a:spcAft>
              <a:buNone/>
            </a:pPr>
            <a:r>
              <a:rPr lang="en"/>
              <a:t>while length of 𝒛 &lt; 𝑇 do</a:t>
            </a:r>
            <a:endParaRPr/>
          </a:p>
          <a:p>
            <a:pPr indent="0" lvl="0" marL="0" rtl="0" algn="l">
              <a:lnSpc>
                <a:spcPct val="100000"/>
              </a:lnSpc>
              <a:spcBef>
                <a:spcPts val="0"/>
              </a:spcBef>
              <a:spcAft>
                <a:spcPts val="0"/>
              </a:spcAft>
              <a:buNone/>
            </a:pPr>
            <a:r>
              <a:rPr lang="en"/>
              <a:t> 	extend 𝒛 by appending target item: 𝒛 ← [𝒛; 𝑡 ];</a:t>
            </a:r>
            <a:endParaRPr/>
          </a:p>
          <a:p>
            <a:pPr indent="0" lvl="0" marL="0" rtl="0" algn="l">
              <a:lnSpc>
                <a:spcPct val="100000"/>
              </a:lnSpc>
              <a:spcBef>
                <a:spcPts val="0"/>
              </a:spcBef>
              <a:spcAft>
                <a:spcPts val="0"/>
              </a:spcAft>
              <a:buNone/>
            </a:pPr>
            <a:r>
              <a:rPr lang="en"/>
              <a:t> 	transform sequence into sequence embeddings: ˜𝒛 = 𝒇𝑤,𝑒 (𝒛);</a:t>
            </a:r>
            <a:endParaRPr/>
          </a:p>
          <a:p>
            <a:pPr indent="0" lvl="0" marL="0" rtl="0" algn="l">
              <a:lnSpc>
                <a:spcPct val="100000"/>
              </a:lnSpc>
              <a:spcBef>
                <a:spcPts val="0"/>
              </a:spcBef>
              <a:spcAft>
                <a:spcPts val="0"/>
              </a:spcAft>
              <a:buNone/>
            </a:pPr>
            <a:r>
              <a:rPr lang="en"/>
              <a:t> 	compute backward gradients using cross entropy ∇ = ∇˜𝒛Lce (𝒇𝑤,𝑚(˜𝒛), 𝑡 );</a:t>
            </a:r>
            <a:endParaRPr/>
          </a:p>
          <a:p>
            <a:pPr indent="0" lvl="0" marL="457200" rtl="0" algn="l">
              <a:lnSpc>
                <a:spcPct val="100000"/>
              </a:lnSpc>
              <a:spcBef>
                <a:spcPts val="0"/>
              </a:spcBef>
              <a:spcAft>
                <a:spcPts val="0"/>
              </a:spcAft>
              <a:buNone/>
            </a:pPr>
            <a:r>
              <a:rPr lang="en"/>
              <a:t>compute cosine similarity scores 𝑺 between ˜𝒛 − 𝜖sign(∇) and 𝒇𝑤,𝑒 (𝑖) ∀𝑖 ∈ I;</a:t>
            </a:r>
            <a:endParaRPr/>
          </a:p>
          <a:p>
            <a:pPr indent="0" lvl="0" marL="457200" rtl="0" algn="l">
              <a:lnSpc>
                <a:spcPct val="100000"/>
              </a:lnSpc>
              <a:spcBef>
                <a:spcPts val="0"/>
              </a:spcBef>
              <a:spcAft>
                <a:spcPts val="0"/>
              </a:spcAft>
              <a:buNone/>
            </a:pPr>
            <a:r>
              <a:rPr lang="en"/>
              <a:t>select 𝑛 candidates 𝑪 with highest 𝑺 scores, exclude 𝑡 if repeated;</a:t>
            </a:r>
            <a:endParaRPr/>
          </a:p>
          <a:p>
            <a:pPr indent="0" lvl="0" marL="457200" rtl="0" algn="l">
              <a:lnSpc>
                <a:spcPct val="100000"/>
              </a:lnSpc>
              <a:spcBef>
                <a:spcPts val="0"/>
              </a:spcBef>
              <a:spcAft>
                <a:spcPts val="0"/>
              </a:spcAft>
              <a:buNone/>
            </a:pPr>
            <a:r>
              <a:rPr lang="en"/>
              <a:t>replace 𝑡 in 𝒛 with 𝑐 ∈ 𝑪 and keep 𝒛 with highest 𝒇𝑤(𝒛) [𝑡 ] ;</a:t>
            </a:r>
            <a:endParaRPr/>
          </a:p>
          <a:p>
            <a:pPr indent="0" lvl="0" marL="0" rtl="0" algn="l">
              <a:lnSpc>
                <a:spcPct val="100000"/>
              </a:lnSpc>
              <a:spcBef>
                <a:spcPts val="0"/>
              </a:spcBef>
              <a:spcAft>
                <a:spcPts val="0"/>
              </a:spcAft>
              <a:buNone/>
            </a:pPr>
            <a:r>
              <a:rPr lang="en"/>
              <a:t>end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Conduct the pollution attack</a:t>
            </a:r>
            <a:endParaRPr/>
          </a:p>
        </p:txBody>
      </p:sp>
      <p:pic>
        <p:nvPicPr>
          <p:cNvPr id="105" name="Google Shape;105;p20" title="Data_poisoning.jpg"/>
          <p:cNvPicPr preferRelativeResize="0"/>
          <p:nvPr/>
        </p:nvPicPr>
        <p:blipFill>
          <a:blip r:embed="rId3">
            <a:alphaModFix/>
          </a:blip>
          <a:stretch>
            <a:fillRect/>
          </a:stretch>
        </p:blipFill>
        <p:spPr>
          <a:xfrm>
            <a:off x="909800" y="959501"/>
            <a:ext cx="7612652" cy="40590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en" sz="2300"/>
              <a:t>Algorithm 2: Adversarial Profile Generation for Data Poisoning</a:t>
            </a:r>
            <a:endParaRPr sz="2100"/>
          </a:p>
          <a:p>
            <a:pPr indent="0" lvl="0" marL="0" rtl="0" algn="l">
              <a:spcBef>
                <a:spcPts val="0"/>
              </a:spcBef>
              <a:spcAft>
                <a:spcPts val="0"/>
              </a:spcAft>
              <a:buSzPts val="990"/>
              <a:buNone/>
            </a:pPr>
            <a:r>
              <a:t/>
            </a:r>
            <a:endParaRPr sz="2300"/>
          </a:p>
        </p:txBody>
      </p:sp>
      <p:sp>
        <p:nvSpPr>
          <p:cNvPr id="111" name="Google Shape;111;p21"/>
          <p:cNvSpPr txBox="1"/>
          <p:nvPr>
            <p:ph idx="1" type="body"/>
          </p:nvPr>
        </p:nvSpPr>
        <p:spPr>
          <a:xfrm>
            <a:off x="311700" y="1171600"/>
            <a:ext cx="8520600" cy="3397200"/>
          </a:xfrm>
          <a:prstGeom prst="rect">
            <a:avLst/>
          </a:prstGeom>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1100"/>
              <a:buFont typeface="Arial"/>
              <a:buNone/>
            </a:pPr>
            <a:r>
              <a:rPr lang="en"/>
              <a:t>Input target 𝑡 , expected length 𝑇 , white-box model 𝒇𝑤 (i.e. 𝒇𝑤,𝑒 , 𝒇𝑤,𝑚), 𝜖 and 𝑛;</a:t>
            </a:r>
            <a:endParaRPr/>
          </a:p>
          <a:p>
            <a:pPr indent="0" lvl="0" marL="0" rtl="0" algn="l">
              <a:lnSpc>
                <a:spcPct val="100000"/>
              </a:lnSpc>
              <a:spcBef>
                <a:spcPts val="0"/>
              </a:spcBef>
              <a:spcAft>
                <a:spcPts val="0"/>
              </a:spcAft>
              <a:buClr>
                <a:schemeClr val="dk1"/>
              </a:buClr>
              <a:buSzPts val="1100"/>
              <a:buFont typeface="Arial"/>
              <a:buNone/>
            </a:pPr>
            <a:r>
              <a:rPr lang="en"/>
              <a:t>Output adversarial profile 𝒛;</a:t>
            </a:r>
            <a:endParaRPr/>
          </a:p>
          <a:p>
            <a:pPr indent="0" lvl="0" marL="0" rtl="0" algn="l">
              <a:lnSpc>
                <a:spcPct val="100000"/>
              </a:lnSpc>
              <a:spcBef>
                <a:spcPts val="0"/>
              </a:spcBef>
              <a:spcAft>
                <a:spcPts val="0"/>
              </a:spcAft>
              <a:buClr>
                <a:schemeClr val="dk1"/>
              </a:buClr>
              <a:buSzPts val="1100"/>
              <a:buFont typeface="Arial"/>
              <a:buNone/>
            </a:pPr>
            <a:r>
              <a:rPr lang="en"/>
              <a:t>initialize 𝒛 with 𝒛 = [𝑡 ];</a:t>
            </a:r>
            <a:endParaRPr/>
          </a:p>
          <a:p>
            <a:pPr indent="0" lvl="0" marL="0" rtl="0" algn="l">
              <a:lnSpc>
                <a:spcPct val="100000"/>
              </a:lnSpc>
              <a:spcBef>
                <a:spcPts val="0"/>
              </a:spcBef>
              <a:spcAft>
                <a:spcPts val="0"/>
              </a:spcAft>
              <a:buClr>
                <a:schemeClr val="dk1"/>
              </a:buClr>
              <a:buSzPts val="1100"/>
              <a:buFont typeface="Arial"/>
              <a:buNone/>
            </a:pPr>
            <a:r>
              <a:rPr lang="en"/>
              <a:t>while length of 𝒛 &lt; 𝑇 do</a:t>
            </a:r>
            <a:endParaRPr/>
          </a:p>
          <a:p>
            <a:pPr indent="457200" lvl="0" marL="0" rtl="0" algn="l">
              <a:lnSpc>
                <a:spcPct val="100000"/>
              </a:lnSpc>
              <a:spcBef>
                <a:spcPts val="0"/>
              </a:spcBef>
              <a:spcAft>
                <a:spcPts val="0"/>
              </a:spcAft>
              <a:buClr>
                <a:schemeClr val="dk1"/>
              </a:buClr>
              <a:buSzPts val="1100"/>
              <a:buFont typeface="Arial"/>
              <a:buNone/>
            </a:pPr>
            <a:r>
              <a:rPr lang="en"/>
              <a:t>sample item 𝑧temp in I and append to 𝒛: 𝒛 = [𝒛; 𝑧temp];</a:t>
            </a:r>
            <a:endParaRPr/>
          </a:p>
          <a:p>
            <a:pPr indent="457200" lvl="0" marL="0" rtl="0" algn="l">
              <a:lnSpc>
                <a:spcPct val="100000"/>
              </a:lnSpc>
              <a:spcBef>
                <a:spcPts val="0"/>
              </a:spcBef>
              <a:spcAft>
                <a:spcPts val="0"/>
              </a:spcAft>
              <a:buClr>
                <a:schemeClr val="dk1"/>
              </a:buClr>
              <a:buSzPts val="1100"/>
              <a:buFont typeface="Arial"/>
              <a:buNone/>
            </a:pPr>
            <a:r>
              <a:rPr lang="en"/>
              <a:t> transform sequence into sequence embeddings: ˜𝒛 = 𝒇𝑤,𝑒 (𝒛);</a:t>
            </a:r>
            <a:endParaRPr/>
          </a:p>
          <a:p>
            <a:pPr indent="457200" lvl="0" marL="0" rtl="0" algn="l">
              <a:lnSpc>
                <a:spcPct val="100000"/>
              </a:lnSpc>
              <a:spcBef>
                <a:spcPts val="0"/>
              </a:spcBef>
              <a:spcAft>
                <a:spcPts val="0"/>
              </a:spcAft>
              <a:buClr>
                <a:schemeClr val="dk1"/>
              </a:buClr>
              <a:buSzPts val="1100"/>
              <a:buFont typeface="Arial"/>
              <a:buNone/>
            </a:pPr>
            <a:r>
              <a:rPr lang="en"/>
              <a:t> compute backward gradients using cross entropy ∇ = ∇˜𝒛Lce (𝒇𝑤,𝑚(˜𝒛), 𝑡 );</a:t>
            </a:r>
            <a:endParaRPr/>
          </a:p>
          <a:p>
            <a:pPr indent="457200" lvl="0" marL="0" rtl="0" algn="l">
              <a:lnSpc>
                <a:spcPct val="100000"/>
              </a:lnSpc>
              <a:spcBef>
                <a:spcPts val="0"/>
              </a:spcBef>
              <a:spcAft>
                <a:spcPts val="0"/>
              </a:spcAft>
              <a:buClr>
                <a:schemeClr val="dk1"/>
              </a:buClr>
              <a:buSzPts val="1100"/>
              <a:buFont typeface="Arial"/>
              <a:buNone/>
            </a:pPr>
            <a:r>
              <a:rPr lang="en"/>
              <a:t>compute cosine similarity scores 𝑺 between ˜𝒛 − 𝜖sign(∇) and 𝒇𝑤,𝑒 (𝑖) ∀𝑖 ∈ I;</a:t>
            </a:r>
            <a:endParaRPr/>
          </a:p>
          <a:p>
            <a:pPr indent="457200" lvl="0" marL="0" rtl="0" algn="l">
              <a:lnSpc>
                <a:spcPct val="100000"/>
              </a:lnSpc>
              <a:spcBef>
                <a:spcPts val="0"/>
              </a:spcBef>
              <a:spcAft>
                <a:spcPts val="0"/>
              </a:spcAft>
              <a:buClr>
                <a:schemeClr val="dk1"/>
              </a:buClr>
              <a:buSzPts val="1100"/>
              <a:buFont typeface="Arial"/>
              <a:buNone/>
            </a:pPr>
            <a:r>
              <a:rPr lang="en"/>
              <a:t>select 𝑛 candidates 𝑪 with lowest 𝑺 scores, exclude 𝑡 if repeated;</a:t>
            </a:r>
            <a:endParaRPr/>
          </a:p>
          <a:p>
            <a:pPr indent="457200" lvl="0" marL="0" rtl="0" algn="l">
              <a:lnSpc>
                <a:spcPct val="100000"/>
              </a:lnSpc>
              <a:spcBef>
                <a:spcPts val="0"/>
              </a:spcBef>
              <a:spcAft>
                <a:spcPts val="0"/>
              </a:spcAft>
              <a:buClr>
                <a:schemeClr val="dk1"/>
              </a:buClr>
              <a:buSzPts val="1100"/>
              <a:buFont typeface="Arial"/>
              <a:buNone/>
            </a:pPr>
            <a:r>
              <a:rPr lang="en"/>
              <a:t>sample item in 𝑪 and replace 𝑧temp in 𝒛;</a:t>
            </a:r>
            <a:endParaRPr/>
          </a:p>
          <a:p>
            <a:pPr indent="457200" lvl="0" marL="0" rtl="0" algn="l">
              <a:lnSpc>
                <a:spcPct val="100000"/>
              </a:lnSpc>
              <a:spcBef>
                <a:spcPts val="0"/>
              </a:spcBef>
              <a:spcAft>
                <a:spcPts val="0"/>
              </a:spcAft>
              <a:buClr>
                <a:schemeClr val="dk1"/>
              </a:buClr>
              <a:buSzPts val="1100"/>
              <a:buFont typeface="Arial"/>
              <a:buNone/>
            </a:pPr>
            <a:r>
              <a:rPr lang="en"/>
              <a:t>append target item 𝒛 ← [𝒛; 𝑡 ];</a:t>
            </a:r>
            <a:endParaRPr/>
          </a:p>
          <a:p>
            <a:pPr indent="0" lvl="0" marL="0" rtl="0" algn="l">
              <a:lnSpc>
                <a:spcPct val="100000"/>
              </a:lnSpc>
              <a:spcBef>
                <a:spcPts val="0"/>
              </a:spcBef>
              <a:spcAft>
                <a:spcPts val="0"/>
              </a:spcAft>
              <a:buNone/>
            </a:pPr>
            <a:r>
              <a:rPr lang="en"/>
              <a:t>end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Issues</a:t>
            </a:r>
            <a:endParaRPr/>
          </a:p>
        </p:txBody>
      </p:sp>
      <p:sp>
        <p:nvSpPr>
          <p:cNvPr id="117" name="Google Shape;117;p2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 were several issues with the code that caused numerous errors. The most common was related to PyTorch updates, namely that they removed the ‘zero_gradients’ method. So, had to remove all of the imports, which almost every single file imported, then a few of them actually employed the method, so had to modify the code some to not use it but still retain the proper functionality. Additionally, the code was supposed to take in arguments from the command line, however, these did not work properly, and this caused issues with the number of epochs in the code - it was originally hard-coded at 1000 by default. Finally, the ‘games’ dataset did not have full implementation for the final step, so we had to modify the code a little on the last step to implement the dataset.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Results</a:t>
            </a:r>
            <a:endParaRPr/>
          </a:p>
        </p:txBody>
      </p:sp>
      <p:sp>
        <p:nvSpPr>
          <p:cNvPr id="123" name="Google Shape;123;p23"/>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4" name="Google Shape;124;p23"/>
          <p:cNvPicPr preferRelativeResize="0"/>
          <p:nvPr/>
        </p:nvPicPr>
        <p:blipFill rotWithShape="1">
          <a:blip r:embed="rId3">
            <a:alphaModFix/>
          </a:blip>
          <a:srcRect b="0" l="11970" r="16180" t="0"/>
          <a:stretch/>
        </p:blipFill>
        <p:spPr>
          <a:xfrm>
            <a:off x="102250" y="963013"/>
            <a:ext cx="4010976" cy="3814374"/>
          </a:xfrm>
          <a:prstGeom prst="rect">
            <a:avLst/>
          </a:prstGeom>
          <a:noFill/>
          <a:ln>
            <a:noFill/>
          </a:ln>
        </p:spPr>
      </p:pic>
      <p:pic>
        <p:nvPicPr>
          <p:cNvPr id="125" name="Google Shape;125;p23"/>
          <p:cNvPicPr preferRelativeResize="0"/>
          <p:nvPr/>
        </p:nvPicPr>
        <p:blipFill>
          <a:blip r:embed="rId4">
            <a:alphaModFix/>
          </a:blip>
          <a:stretch>
            <a:fillRect/>
          </a:stretch>
        </p:blipFill>
        <p:spPr>
          <a:xfrm>
            <a:off x="4113225" y="963025"/>
            <a:ext cx="5003467" cy="3814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